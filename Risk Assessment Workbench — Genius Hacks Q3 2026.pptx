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2" dt="2026-10-21T14:49:32.503"/>
    <p1510:client id="{2912FF3A-C5AB-49B4-A5DB-54D927AD6D04}" v="74" dt="2026-10-21T17:16:43.469"/>
    <p1510:client id="{476B5776-105E-C1D5-53B9-2AB192961725}" v="66" dt="2026-10-21T14:53:53.164"/>
    <p1510:client id="{4BAD01E6-D435-CC56-091C-02224EFB2F35}" v="2" dt="2026-10-21T14:17:59.090"/>
    <p1510:client id="{582199B4-ED16-CB61-E3BE-1D55FFB60CE4}" v="3" dt="2026-10-21T14:54:32.505"/>
    <p1510:client id="{5FD4D227-D7A3-EEB4-5DDE-FCB4128956A2}" v="21" dt="2026-10-21T16:28:19.409"/>
    <p1510:client id="{8D5853F0-51C7-BD19-801B-9F859E616E67}" v="320" dt="2026-10-21T21:22:01.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76B303CB-676B-48A9-A7A4-B660C33FBD89}" type="datetimeFigureOut">
              <a:t>10/21/2026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FF34F6-C416-4540-A0B2-FBEFCBF59BE0}" type="slidenum">
              <a:t>‹#›</a:t>
            </a:fld>
            <a:endParaRPr lang="en-US"/>
          </a:p>
        </p:txBody>
      </p:sp>
    </p:spTree>
    <p:extLst>
      <p:ext uri="{BB962C8B-B14F-4D97-AF65-F5344CB8AC3E}">
        <p14:creationId xmlns:p14="http://schemas.microsoft.com/office/powerpoint/2010/main" val="1411220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Team of four: backend/.NET tech lead, application developer, QA, DevOps. The deck follows the six SDLC stages; each stage shows what AI did and what the team decided.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~$500B bank assesses every change before go-live, today over 15–20 business days on email and Office files, with inconsistent outcomes and weak audit trails. Our principle: the system prepares, humans decide. The brief was deliberately incomplete; expanding it was part of the challenge (stage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spine of the deck. Every stage follows the same loop: AI proposes, the team reviews, a human decides, the decision is recorded. Co-authored means Claude Code wrote the change and a team member reviewed and committed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team brainstormed gaps in the deliberately incomplete brief, then used AI to research and compare candidate frameworks. The team chose FFIEC because it covers every line of business in the brief. Epics were drafted with AI, reviewed and merged by the BA and team, then loaded into Azure Boards. Each later review added scope: QA (11–13), ecosystem (14), DevOps (15–18), SLA tracking (19), orchestration (20). Research prompt: ai/research/.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stack was chosen around the connectors available to Claude Code (PostgreSQL and Azure DevOps Boards), so AI could work directly against the schema and the backlog. Only category mapping, document extraction and narrative drafting call a model; policy search, scoring and the committee vote use no tokens. The AI layer sits behind one interface, so the provider can be swapped (Claude, Azure AI Foundry; LangGraph engine under evaluation) without touching the human gates in .NET and PostgreSQL. Prompts are versioned in /ai/prompts. FFIEC is fixed for the MVP; configurable frameworks are an extension point. Engineering judgement: no LLM where a rule or a query gives the same, explainable answer every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Pick a story from Azure Boards. 2) Claude Code drafts code and tests, starting from CLAUDE.md and the user stories. 3) The developer reads the diff. 4) Before committing, run python -m dev_harness check: six LangGraph checks run in parallel over the git diff (architecture layers, DB reason and audit event, citation guard, no LLM where a rule works, async and config, coding standards) and return one report; nothing is auto-fixed. 5) Commit with a Co-Authored-By trailer and open a PR. 6) Build, unit tests and security scans are hard gates; the AI code review is read-only; a person merges into release/1.00. Every lane ends at a human.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Evals call the same production AI clients. Scoring is deterministic wherever the domain allows; the narrative check is openly labelled a heuristic proxy. QA directed Claude Code to generate the e2e suite from the acceptance criteria (prompt logged in ai/qa). First full run (25 Sep): 74 passed, 46 failed; defects filed to Azure Boards as Bugs #99–#127 by an AI-driven script. Example fix: DEF-002 server-side role enforcement; database migrations are named after the defect they fix.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Pipelines run in Azure DevOps against the GitHub repo. Hard gates are not AI: terraform fmt/validate/TFLint/plan, Trivy HIGH and CRITICAL on images and IaC, npm audit and .NET vulnerability check; Checkov and Semgrep are information only. The AI reviewer's rules defend against prompt injection in diffs. Human overrides are recorded in docs/architecture/pipelines-architecture-mapping.md. Operations: both apps register Azure Monitor OpenTelemetry; the watchdog runs four deterministic KQL queries, Claude only classifies and summarises, and the pipeline opens or closes GitHub issues. Next: dashboards, runbooks, diagnostic settings beyond dev (off in dev to control cost).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Screenshots are from the QA end-to-end run (25 Sep 2026). Show the live demo or video here. Points to call out: every AI output arrives as a proposal; overrides need a reason and a zero score is refused; the committee decision locks the request and completes the audit trail.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candid here: the panel probes decisions rather than features. Close with the principle,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4262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800"/>
          </a:p>
        </p:txBody>
      </p:sp>
      <p:sp>
        <p:nvSpPr>
          <p:cNvPr id="3" name="Text Placeholder 2"/>
          <p:cNvSpPr>
            <a:spLocks noGrp="1"/>
          </p:cNvSpPr>
          <p:nvPr>
            <p:ph type="body" idx="101"/>
          </p:nvPr>
        </p:nvSpPr>
        <p:spPr>
          <a:xfrm>
            <a:off x="812800" y="1798241"/>
            <a:ext cx="10566400" cy="4246959"/>
          </a:xfrm>
          <a:prstGeom prst="rect">
            <a:avLst/>
          </a:prstGeom>
          <a:noFill/>
          <a:ln/>
        </p:spPr>
        <p:txBody>
          <a:bodyPr wrap="square" lIns="0" tIns="0" rIns="0" bIns="0" rtlCol="0" anchor="t"/>
          <a:lstStyle>
            <a:lvl1pPr marL="0" indent="0" algn="l">
              <a:lnSpc>
                <a:spcPct val="140000"/>
              </a:lnSpc>
              <a:buNone/>
              <a:defRPr lang="en-US" sz="1600" dirty="0">
                <a:solidFill>
                  <a:srgbClr val="1426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4262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800"/>
          </a:p>
        </p:txBody>
      </p:sp>
      <p:sp>
        <p:nvSpPr>
          <p:cNvPr id="3" name="Text Placeholder 2"/>
          <p:cNvSpPr>
            <a:spLocks noGrp="1"/>
          </p:cNvSpPr>
          <p:nvPr>
            <p:ph type="body" idx="101"/>
          </p:nvPr>
        </p:nvSpPr>
        <p:spPr>
          <a:xfrm>
            <a:off x="812800" y="1798241"/>
            <a:ext cx="10566400" cy="4246959"/>
          </a:xfrm>
          <a:prstGeom prst="rect">
            <a:avLst/>
          </a:prstGeom>
          <a:noFill/>
          <a:ln/>
        </p:spPr>
        <p:txBody>
          <a:bodyPr wrap="square" lIns="0" tIns="0" rIns="0" bIns="0" rtlCol="0" anchor="t"/>
          <a:lstStyle>
            <a:lvl1pPr marL="0" indent="0" algn="l">
              <a:lnSpc>
                <a:spcPct val="140000"/>
              </a:lnSpc>
              <a:buNone/>
              <a:defRPr lang="en-US" sz="1600" dirty="0">
                <a:solidFill>
                  <a:srgbClr val="1426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629"/>
        </a:solidFill>
        <a:effectLst/>
      </p:bgPr>
    </p:bg>
    <p:spTree>
      <p:nvGrpSpPr>
        <p:cNvPr id="1" name=""/>
        <p:cNvGrpSpPr/>
        <p:nvPr/>
      </p:nvGrpSpPr>
      <p:grpSpPr>
        <a:xfrm>
          <a:off x="0" y="0"/>
          <a:ext cx="0" cy="0"/>
          <a:chOff x="0" y="0"/>
          <a:chExt cx="0" cy="0"/>
        </a:xfrm>
      </p:grpSpPr>
      <p:pic>
        <p:nvPicPr>
          <p:cNvPr id="2" name="Image 0" descr="Myridius logo"/>
          <p:cNvPicPr>
            <a:picLocks noChangeAspect="1"/>
          </p:cNvPicPr>
          <p:nvPr/>
        </p:nvPicPr>
        <p:blipFill>
          <a:blip r:embed="rId3"/>
          <a:srcRect t="-83" b="-83"/>
          <a:stretch/>
        </p:blipFill>
        <p:spPr>
          <a:xfrm>
            <a:off x="812800" y="812800"/>
            <a:ext cx="1574800" cy="355600"/>
          </a:xfrm>
          <a:prstGeom prst="rect">
            <a:avLst/>
          </a:prstGeom>
        </p:spPr>
      </p:pic>
      <p:sp>
        <p:nvSpPr>
          <p:cNvPr id="3" name="Text 0"/>
          <p:cNvSpPr/>
          <p:nvPr/>
        </p:nvSpPr>
        <p:spPr>
          <a:xfrm>
            <a:off x="812800" y="1976173"/>
            <a:ext cx="10883392" cy="256514"/>
          </a:xfrm>
          <a:prstGeom prst="rect">
            <a:avLst/>
          </a:prstGeom>
          <a:noFill/>
          <a:ln/>
        </p:spPr>
        <p:txBody>
          <a:bodyPr wrap="square" lIns="0" tIns="0" rIns="0" bIns="0" rtlCol="0" anchor="t">
            <a:normAutofit/>
          </a:bodyPr>
          <a:lstStyle/>
          <a:p>
            <a:pPr marL="0" indent="0" algn="l">
              <a:lnSpc>
                <a:spcPts val="1820"/>
              </a:lnSpc>
              <a:buNone/>
            </a:pPr>
            <a:r>
              <a:rPr lang="en-US" sz="1300" kern="0" spc="100">
                <a:solidFill>
                  <a:srgbClr val="4FD67A"/>
                </a:solidFill>
                <a:latin typeface="IBM Plex Mono" pitchFamily="49" charset="0"/>
                <a:ea typeface="IBM Plex Mono" pitchFamily="49" charset="-122"/>
                <a:cs typeface="IBM Plex Mono" pitchFamily="49" charset="-120"/>
              </a:rPr>
              <a:t>HUMAID RISK GOVERNANCE · GENIUS HACKS Q3 2026</a:t>
            </a:r>
            <a:endParaRPr lang="en-US" sz="1300"/>
          </a:p>
        </p:txBody>
      </p:sp>
      <p:sp>
        <p:nvSpPr>
          <p:cNvPr id="4" name="Text 1"/>
          <p:cNvSpPr>
            <a:spLocks noGrp="1"/>
          </p:cNvSpPr>
          <p:nvPr>
            <p:ph type="title"/>
          </p:nvPr>
        </p:nvSpPr>
        <p:spPr>
          <a:xfrm>
            <a:off x="812800" y="2410487"/>
            <a:ext cx="9156700" cy="1732227"/>
          </a:xfrm>
          <a:prstGeom prst="rect">
            <a:avLst/>
          </a:prstGeom>
          <a:noFill/>
          <a:ln/>
        </p:spPr>
        <p:txBody>
          <a:bodyPr wrap="square" lIns="0" tIns="0" rIns="0" bIns="0" rtlCol="0" anchor="t">
            <a:normAutofit/>
          </a:bodyPr>
          <a:lstStyle/>
          <a:p>
            <a:pPr marL="0" indent="0" algn="l">
              <a:lnSpc>
                <a:spcPts val="6720"/>
              </a:lnSpc>
              <a:buNone/>
            </a:pPr>
            <a:r>
              <a:rPr lang="en-US" sz="6400" b="1" i="0">
                <a:solidFill>
                  <a:srgbClr val="EEF3EF"/>
                </a:solidFill>
                <a:latin typeface="IBM Plex Sans" pitchFamily="34" charset="0"/>
                <a:ea typeface="IBM Plex Sans" pitchFamily="34" charset="-122"/>
                <a:cs typeface="IBM Plex Sans" pitchFamily="34" charset="-120"/>
              </a:rPr>
              <a:t>Risk Assessment Workbench</a:t>
            </a:r>
            <a:endParaRPr lang="en-US" sz="6400"/>
          </a:p>
        </p:txBody>
      </p:sp>
      <p:sp>
        <p:nvSpPr>
          <p:cNvPr id="5" name="Text 2"/>
          <p:cNvSpPr/>
          <p:nvPr/>
        </p:nvSpPr>
        <p:spPr>
          <a:xfrm>
            <a:off x="812800" y="4320514"/>
            <a:ext cx="8502650" cy="711200"/>
          </a:xfrm>
          <a:prstGeom prst="rect">
            <a:avLst/>
          </a:prstGeom>
          <a:noFill/>
          <a:ln/>
        </p:spPr>
        <p:txBody>
          <a:bodyPr wrap="square" lIns="0" tIns="0" rIns="0" bIns="0" rtlCol="0" anchor="t">
            <a:normAutofit/>
          </a:bodyPr>
          <a:lstStyle/>
          <a:p>
            <a:pPr marL="0" indent="0" algn="l">
              <a:lnSpc>
                <a:spcPts val="2700"/>
              </a:lnSpc>
              <a:buNone/>
            </a:pPr>
            <a:r>
              <a:rPr lang="en-US" sz="2000">
                <a:solidFill>
                  <a:srgbClr val="C9D6D2"/>
                </a:solidFill>
                <a:latin typeface="IBM Plex Sans" pitchFamily="34" charset="0"/>
                <a:ea typeface="IBM Plex Sans" pitchFamily="34" charset="-122"/>
                <a:cs typeface="IBM Plex Sans" pitchFamily="34" charset="-120"/>
              </a:rPr>
              <a:t>How we applied AI across all six SDLC stages, and where humans stayed in charge</a:t>
            </a:r>
            <a:endParaRPr lang="en-US" sz="2000"/>
          </a:p>
        </p:txBody>
      </p:sp>
      <p:sp>
        <p:nvSpPr>
          <p:cNvPr id="6" name="Text 3"/>
          <p:cNvSpPr/>
          <p:nvPr/>
        </p:nvSpPr>
        <p:spPr>
          <a:xfrm>
            <a:off x="812800" y="5814087"/>
            <a:ext cx="10883392" cy="256514"/>
          </a:xfrm>
          <a:prstGeom prst="rect">
            <a:avLst/>
          </a:prstGeom>
          <a:noFill/>
          <a:ln/>
        </p:spPr>
        <p:txBody>
          <a:bodyPr wrap="square" lIns="0" tIns="0" rIns="0" bIns="0" rtlCol="0" anchor="t">
            <a:normAutofit/>
          </a:bodyPr>
          <a:lstStyle/>
          <a:p>
            <a:pPr marL="0" indent="0" algn="l">
              <a:lnSpc>
                <a:spcPts val="1820"/>
              </a:lnSpc>
              <a:buNone/>
            </a:pPr>
            <a:r>
              <a:rPr lang="en-US" sz="1300">
                <a:solidFill>
                  <a:srgbClr val="9FB4B0"/>
                </a:solidFill>
                <a:latin typeface="IBM Plex Sans"/>
                <a:ea typeface="IBM Plex Sans" pitchFamily="34" charset="-122"/>
                <a:cs typeface="IBM Plex Sans" pitchFamily="34" charset="-120"/>
              </a:rPr>
              <a:t>October 2026</a:t>
            </a:r>
            <a:endParaRPr lang="en-US" sz="1300">
              <a:latin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PROBLEM STATEMENT</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Risk reviews are slow, inconsistent and hard to audit</a:t>
            </a:r>
            <a:endParaRPr lang="en-US" sz="2800"/>
          </a:p>
        </p:txBody>
      </p:sp>
      <p:sp>
        <p:nvSpPr>
          <p:cNvPr id="4" name="Text 2"/>
          <p:cNvSpPr/>
          <p:nvPr/>
        </p:nvSpPr>
        <p:spPr>
          <a:xfrm>
            <a:off x="812800" y="1569641"/>
            <a:ext cx="9810750" cy="487627"/>
          </a:xfrm>
          <a:prstGeom prst="rect">
            <a:avLst/>
          </a:prstGeom>
          <a:noFill/>
          <a:ln/>
        </p:spPr>
        <p:txBody>
          <a:bodyPr wrap="square" lIns="0" tIns="0" rIns="0" bIns="0" rtlCol="0" anchor="t">
            <a:normAutofit/>
          </a:bodyPr>
          <a:lstStyle/>
          <a:p>
            <a:pPr marL="0" indent="0" algn="l">
              <a:lnSpc>
                <a:spcPts val="1820"/>
              </a:lnSpc>
              <a:buNone/>
            </a:pPr>
            <a:r>
              <a:rPr lang="en-US" sz="1300">
                <a:solidFill>
                  <a:srgbClr val="4F6063"/>
                </a:solidFill>
                <a:latin typeface="IBM Plex Sans" pitchFamily="34" charset="0"/>
                <a:ea typeface="IBM Plex Sans" pitchFamily="34" charset="-122"/>
                <a:cs typeface="IBM Plex Sans" pitchFamily="34" charset="-120"/>
              </a:rPr>
              <a:t>A ~$500B national bank must assess every new product, feature, process, vendor, geography and customer segment before go-live.</a:t>
            </a:r>
            <a:endParaRPr lang="en-US" sz="1300"/>
          </a:p>
        </p:txBody>
      </p:sp>
      <p:sp>
        <p:nvSpPr>
          <p:cNvPr id="5" name="Shape 3"/>
          <p:cNvSpPr/>
          <p:nvPr/>
        </p:nvSpPr>
        <p:spPr>
          <a:xfrm>
            <a:off x="815975" y="2314443"/>
            <a:ext cx="3380317" cy="1489207"/>
          </a:xfrm>
          <a:prstGeom prst="roundRect">
            <a:avLst>
              <a:gd name="adj" fmla="val 6609"/>
            </a:avLst>
          </a:prstGeom>
          <a:solidFill>
            <a:srgbClr val="FFFFFF"/>
          </a:solidFill>
          <a:ln w="6350">
            <a:solidFill>
              <a:srgbClr val="DFE5E1"/>
            </a:solidFill>
            <a:prstDash val="solid"/>
          </a:ln>
        </p:spPr>
        <p:txBody>
          <a:bodyPr/>
          <a:lstStyle/>
          <a:p>
            <a:endParaRPr lang="en-US"/>
          </a:p>
        </p:txBody>
      </p:sp>
      <p:sp>
        <p:nvSpPr>
          <p:cNvPr id="6" name="Text 4"/>
          <p:cNvSpPr/>
          <p:nvPr/>
        </p:nvSpPr>
        <p:spPr>
          <a:xfrm>
            <a:off x="1020233" y="2518701"/>
            <a:ext cx="3060954" cy="584200"/>
          </a:xfrm>
          <a:prstGeom prst="rect">
            <a:avLst/>
          </a:prstGeom>
          <a:noFill/>
          <a:ln/>
        </p:spPr>
        <p:txBody>
          <a:bodyPr wrap="square" lIns="0" tIns="0" rIns="0" bIns="0" rtlCol="0" anchor="t">
            <a:normAutofit/>
          </a:bodyPr>
          <a:lstStyle/>
          <a:p>
            <a:pPr marL="0" indent="0" algn="l">
              <a:lnSpc>
                <a:spcPts val="4400"/>
              </a:lnSpc>
              <a:buNone/>
            </a:pPr>
            <a:r>
              <a:rPr lang="en-US" sz="4000" b="1">
                <a:solidFill>
                  <a:srgbClr val="1C7A45"/>
                </a:solidFill>
                <a:latin typeface="IBM Plex Sans" pitchFamily="34" charset="0"/>
                <a:ea typeface="IBM Plex Sans" pitchFamily="34" charset="-122"/>
                <a:cs typeface="IBM Plex Sans" pitchFamily="34" charset="-120"/>
              </a:rPr>
              <a:t>15–20</a:t>
            </a:r>
            <a:endParaRPr lang="en-US" sz="4000"/>
          </a:p>
        </p:txBody>
      </p:sp>
      <p:sp>
        <p:nvSpPr>
          <p:cNvPr id="7" name="Text 5"/>
          <p:cNvSpPr/>
          <p:nvPr/>
        </p:nvSpPr>
        <p:spPr>
          <a:xfrm>
            <a:off x="1020233" y="3153701"/>
            <a:ext cx="3060954"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4262A"/>
                </a:solidFill>
                <a:latin typeface="IBM Plex Sans" pitchFamily="34" charset="0"/>
                <a:ea typeface="IBM Plex Sans" pitchFamily="34" charset="-122"/>
                <a:cs typeface="IBM Plex Sans" pitchFamily="34" charset="-120"/>
              </a:rPr>
              <a:t>business days per assessment, run on email, Word, Excel and SharePoint</a:t>
            </a:r>
            <a:endParaRPr lang="en-US" sz="1300"/>
          </a:p>
        </p:txBody>
      </p:sp>
      <p:sp>
        <p:nvSpPr>
          <p:cNvPr id="8" name="Shape 6"/>
          <p:cNvSpPr/>
          <p:nvPr/>
        </p:nvSpPr>
        <p:spPr>
          <a:xfrm>
            <a:off x="4405842" y="2314443"/>
            <a:ext cx="3380317" cy="1489207"/>
          </a:xfrm>
          <a:prstGeom prst="roundRect">
            <a:avLst>
              <a:gd name="adj" fmla="val 6609"/>
            </a:avLst>
          </a:prstGeom>
          <a:solidFill>
            <a:srgbClr val="FFFFFF"/>
          </a:solidFill>
          <a:ln w="6350">
            <a:solidFill>
              <a:srgbClr val="DFE5E1"/>
            </a:solidFill>
            <a:prstDash val="solid"/>
          </a:ln>
        </p:spPr>
        <p:txBody>
          <a:bodyPr/>
          <a:lstStyle/>
          <a:p>
            <a:endParaRPr lang="en-US"/>
          </a:p>
        </p:txBody>
      </p:sp>
      <p:sp>
        <p:nvSpPr>
          <p:cNvPr id="9" name="Text 7"/>
          <p:cNvSpPr/>
          <p:nvPr/>
        </p:nvSpPr>
        <p:spPr>
          <a:xfrm>
            <a:off x="4610100" y="2518701"/>
            <a:ext cx="3060954" cy="584200"/>
          </a:xfrm>
          <a:prstGeom prst="rect">
            <a:avLst/>
          </a:prstGeom>
          <a:noFill/>
          <a:ln/>
        </p:spPr>
        <p:txBody>
          <a:bodyPr wrap="square" lIns="0" tIns="0" rIns="0" bIns="0" rtlCol="0" anchor="t">
            <a:normAutofit/>
          </a:bodyPr>
          <a:lstStyle/>
          <a:p>
            <a:pPr marL="0" indent="0" algn="l">
              <a:lnSpc>
                <a:spcPts val="4400"/>
              </a:lnSpc>
              <a:buNone/>
            </a:pPr>
            <a:r>
              <a:rPr lang="en-US" sz="4000" b="1">
                <a:solidFill>
                  <a:srgbClr val="1C7A45"/>
                </a:solidFill>
                <a:latin typeface="IBM Plex Sans" pitchFamily="34" charset="0"/>
                <a:ea typeface="IBM Plex Sans" pitchFamily="34" charset="-122"/>
                <a:cs typeface="IBM Plex Sans" pitchFamily="34" charset="-120"/>
              </a:rPr>
              <a:t>2 analysts</a:t>
            </a:r>
            <a:endParaRPr lang="en-US" sz="4000"/>
          </a:p>
        </p:txBody>
      </p:sp>
      <p:sp>
        <p:nvSpPr>
          <p:cNvPr id="10" name="Text 8"/>
          <p:cNvSpPr/>
          <p:nvPr/>
        </p:nvSpPr>
        <p:spPr>
          <a:xfrm>
            <a:off x="4610100" y="3153701"/>
            <a:ext cx="3060954"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4262A"/>
                </a:solidFill>
                <a:latin typeface="IBM Plex Sans" pitchFamily="34" charset="0"/>
                <a:ea typeface="IBM Plex Sans" pitchFamily="34" charset="-122"/>
                <a:cs typeface="IBM Plex Sans" pitchFamily="34" charset="-120"/>
              </a:rPr>
              <a:t>can reach different conclusions on the same change</a:t>
            </a:r>
            <a:endParaRPr lang="en-US" sz="1300"/>
          </a:p>
        </p:txBody>
      </p:sp>
      <p:sp>
        <p:nvSpPr>
          <p:cNvPr id="11" name="Shape 9"/>
          <p:cNvSpPr/>
          <p:nvPr/>
        </p:nvSpPr>
        <p:spPr>
          <a:xfrm>
            <a:off x="7995709" y="2314443"/>
            <a:ext cx="3380317" cy="1489207"/>
          </a:xfrm>
          <a:prstGeom prst="roundRect">
            <a:avLst>
              <a:gd name="adj" fmla="val 6609"/>
            </a:avLst>
          </a:prstGeom>
          <a:solidFill>
            <a:srgbClr val="FFFFFF"/>
          </a:solidFill>
          <a:ln w="6350">
            <a:solidFill>
              <a:srgbClr val="DFE5E1"/>
            </a:solidFill>
            <a:prstDash val="solid"/>
          </a:ln>
        </p:spPr>
        <p:txBody>
          <a:bodyPr/>
          <a:lstStyle/>
          <a:p>
            <a:endParaRPr lang="en-US"/>
          </a:p>
        </p:txBody>
      </p:sp>
      <p:sp>
        <p:nvSpPr>
          <p:cNvPr id="12" name="Text 10"/>
          <p:cNvSpPr/>
          <p:nvPr/>
        </p:nvSpPr>
        <p:spPr>
          <a:xfrm>
            <a:off x="8199967" y="2518701"/>
            <a:ext cx="3060954" cy="584200"/>
          </a:xfrm>
          <a:prstGeom prst="rect">
            <a:avLst/>
          </a:prstGeom>
          <a:noFill/>
          <a:ln/>
        </p:spPr>
        <p:txBody>
          <a:bodyPr wrap="square" lIns="0" tIns="0" rIns="0" bIns="0" rtlCol="0" anchor="t">
            <a:normAutofit/>
          </a:bodyPr>
          <a:lstStyle/>
          <a:p>
            <a:pPr marL="0" indent="0" algn="l">
              <a:lnSpc>
                <a:spcPts val="4400"/>
              </a:lnSpc>
              <a:buNone/>
            </a:pPr>
            <a:r>
              <a:rPr lang="en-US" sz="4000" b="1">
                <a:solidFill>
                  <a:srgbClr val="1C7A45"/>
                </a:solidFill>
                <a:latin typeface="IBM Plex Sans" pitchFamily="34" charset="0"/>
                <a:ea typeface="IBM Plex Sans" pitchFamily="34" charset="-122"/>
                <a:cs typeface="IBM Plex Sans" pitchFamily="34" charset="-120"/>
              </a:rPr>
              <a:t>Slow</a:t>
            </a:r>
            <a:endParaRPr lang="en-US" sz="4000"/>
          </a:p>
        </p:txBody>
      </p:sp>
      <p:sp>
        <p:nvSpPr>
          <p:cNvPr id="13" name="Text 11"/>
          <p:cNvSpPr/>
          <p:nvPr/>
        </p:nvSpPr>
        <p:spPr>
          <a:xfrm>
            <a:off x="8199967" y="3153701"/>
            <a:ext cx="3060954"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14262A"/>
                </a:solidFill>
                <a:latin typeface="IBM Plex Sans" pitchFamily="34" charset="0"/>
                <a:ea typeface="IBM Plex Sans" pitchFamily="34" charset="-122"/>
                <a:cs typeface="IBM Plex Sans" pitchFamily="34" charset="-120"/>
              </a:rPr>
              <a:t>to reconstruct the reasoning behind a past rating when examiners ask</a:t>
            </a:r>
            <a:endParaRPr lang="en-US" sz="1300"/>
          </a:p>
        </p:txBody>
      </p:sp>
      <p:sp>
        <p:nvSpPr>
          <p:cNvPr id="14" name="Shape 12"/>
          <p:cNvSpPr/>
          <p:nvPr/>
        </p:nvSpPr>
        <p:spPr>
          <a:xfrm>
            <a:off x="812800" y="4086225"/>
            <a:ext cx="10566400" cy="1638234"/>
          </a:xfrm>
          <a:prstGeom prst="roundRect">
            <a:avLst>
              <a:gd name="adj" fmla="val 6202"/>
            </a:avLst>
          </a:prstGeom>
          <a:solidFill>
            <a:srgbClr val="0F2629"/>
          </a:solidFill>
          <a:ln/>
        </p:spPr>
        <p:txBody>
          <a:bodyPr/>
          <a:lstStyle/>
          <a:p>
            <a:endParaRPr lang="en-US"/>
          </a:p>
        </p:txBody>
      </p:sp>
      <p:sp>
        <p:nvSpPr>
          <p:cNvPr id="15" name="Text 13"/>
          <p:cNvSpPr/>
          <p:nvPr/>
        </p:nvSpPr>
        <p:spPr>
          <a:xfrm>
            <a:off x="1066800" y="4314825"/>
            <a:ext cx="387511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D67A"/>
                </a:solidFill>
                <a:latin typeface="IBM Plex Mono" pitchFamily="49" charset="0"/>
                <a:ea typeface="IBM Plex Mono" pitchFamily="49" charset="-122"/>
                <a:cs typeface="IBM Plex Mono" pitchFamily="49" charset="-120"/>
              </a:rPr>
              <a:t>OUR PRINCIPLE</a:t>
            </a:r>
            <a:endParaRPr lang="en-US" sz="1200"/>
          </a:p>
        </p:txBody>
      </p:sp>
      <p:sp>
        <p:nvSpPr>
          <p:cNvPr id="16" name="Text 14"/>
          <p:cNvSpPr/>
          <p:nvPr/>
        </p:nvSpPr>
        <p:spPr>
          <a:xfrm>
            <a:off x="1066800" y="4604345"/>
            <a:ext cx="3875110"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EEF3EF"/>
                </a:solidFill>
                <a:latin typeface="IBM Plex Sans"/>
                <a:ea typeface="IBM Plex Sans" pitchFamily="34" charset="-122"/>
                <a:cs typeface="IBM Plex Sans" pitchFamily="34" charset="-120"/>
              </a:rPr>
              <a:t>The system prepares, humans </a:t>
            </a:r>
            <a:r>
              <a:rPr lang="en-US" sz="2000" b="1">
                <a:solidFill>
                  <a:srgbClr val="EEF3EF"/>
                </a:solidFill>
                <a:latin typeface="IBM Plex Sans"/>
                <a:ea typeface="IBM Plex Sans" pitchFamily="34" charset="-122"/>
                <a:cs typeface="IBM Plex Sans" pitchFamily="34" charset="-120"/>
              </a:rPr>
              <a:t>decide</a:t>
            </a:r>
            <a:endParaRPr lang="en-US" sz="2000">
              <a:latin typeface="IBM Plex Sans"/>
            </a:endParaRPr>
          </a:p>
        </p:txBody>
      </p:sp>
      <p:sp>
        <p:nvSpPr>
          <p:cNvPr id="17" name="Text 15"/>
          <p:cNvSpPr/>
          <p:nvPr/>
        </p:nvSpPr>
        <p:spPr>
          <a:xfrm>
            <a:off x="1066800" y="5264745"/>
            <a:ext cx="3875110" cy="256514"/>
          </a:xfrm>
          <a:prstGeom prst="rect">
            <a:avLst/>
          </a:prstGeom>
          <a:noFill/>
          <a:ln/>
        </p:spPr>
        <p:txBody>
          <a:bodyPr wrap="square" lIns="0" tIns="0" rIns="0" bIns="0" rtlCol="0" anchor="t">
            <a:normAutofit/>
          </a:bodyPr>
          <a:lstStyle/>
          <a:p>
            <a:pPr marL="0" indent="0" algn="l">
              <a:lnSpc>
                <a:spcPts val="1820"/>
              </a:lnSpc>
              <a:buNone/>
            </a:pPr>
            <a:r>
              <a:rPr lang="en-US" sz="1300">
                <a:solidFill>
                  <a:srgbClr val="C9D6D2"/>
                </a:solidFill>
                <a:latin typeface="IBM Plex Sans"/>
                <a:ea typeface="IBM Plex Sans" pitchFamily="34" charset="-122"/>
                <a:cs typeface="IBM Plex Sans" pitchFamily="34" charset="-120"/>
              </a:rPr>
              <a:t>Nothing is auto-approved or auto-rejected</a:t>
            </a:r>
            <a:endParaRPr lang="en-US" sz="1300">
              <a:latin typeface="IBM Plex Sans"/>
            </a:endParaRPr>
          </a:p>
        </p:txBody>
      </p:sp>
      <p:sp>
        <p:nvSpPr>
          <p:cNvPr id="18" name="Text 16"/>
          <p:cNvSpPr/>
          <p:nvPr/>
        </p:nvSpPr>
        <p:spPr>
          <a:xfrm>
            <a:off x="5083043" y="4314825"/>
            <a:ext cx="2980901"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D67A"/>
                </a:solidFill>
                <a:latin typeface="IBM Plex Mono" pitchFamily="49" charset="0"/>
                <a:ea typeface="IBM Plex Mono" pitchFamily="49" charset="-122"/>
                <a:cs typeface="IBM Plex Mono" pitchFamily="49" charset="-120"/>
              </a:rPr>
              <a:t>THREE ROLES</a:t>
            </a:r>
            <a:endParaRPr lang="en-US" sz="1200"/>
          </a:p>
        </p:txBody>
      </p:sp>
      <p:sp>
        <p:nvSpPr>
          <p:cNvPr id="19" name="Text 17"/>
          <p:cNvSpPr/>
          <p:nvPr/>
        </p:nvSpPr>
        <p:spPr>
          <a:xfrm>
            <a:off x="5083043" y="4604345"/>
            <a:ext cx="2980901" cy="693936"/>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EEF3EF"/>
                </a:solidFill>
                <a:latin typeface="IBM Plex Sans" pitchFamily="34" charset="0"/>
                <a:ea typeface="IBM Plex Sans" pitchFamily="34" charset="-122"/>
                <a:cs typeface="IBM Plex Sans" pitchFamily="34" charset="-120"/>
              </a:rPr>
              <a:t>Product Owner</a:t>
            </a:r>
            <a:r>
              <a:rPr lang="en-US" sz="1300">
                <a:solidFill>
                  <a:srgbClr val="EEF3EF"/>
                </a:solidFill>
                <a:latin typeface="IBM Plex Sans" pitchFamily="34" charset="0"/>
                <a:ea typeface="IBM Plex Sans" pitchFamily="34" charset="-122"/>
                <a:cs typeface="IBM Plex Sans" pitchFamily="34" charset="-120"/>
              </a:rPr>
              <a:t> raises the change</a:t>
            </a:r>
            <a:endParaRPr lang="en-US" sz="1300"/>
          </a:p>
          <a:p>
            <a:pPr marL="0" indent="0" algn="l">
              <a:lnSpc>
                <a:spcPts val="1755"/>
              </a:lnSpc>
              <a:buNone/>
            </a:pPr>
            <a:r>
              <a:rPr lang="en-US" sz="1300" b="1">
                <a:solidFill>
                  <a:srgbClr val="EEF3EF"/>
                </a:solidFill>
                <a:latin typeface="IBM Plex Sans"/>
                <a:ea typeface="IBM Plex Sans" pitchFamily="34" charset="-122"/>
                <a:cs typeface="IBM Plex Sans" pitchFamily="34" charset="-120"/>
              </a:rPr>
              <a:t>FCRM Analyst</a:t>
            </a:r>
            <a:r>
              <a:rPr lang="en-US" sz="1300">
                <a:solidFill>
                  <a:srgbClr val="EEF3EF"/>
                </a:solidFill>
                <a:latin typeface="IBM Plex Sans"/>
                <a:ea typeface="IBM Plex Sans" pitchFamily="34" charset="-122"/>
                <a:cs typeface="IBM Plex Sans" pitchFamily="34" charset="-120"/>
              </a:rPr>
              <a:t> assesses, finalizes</a:t>
            </a:r>
            <a:endParaRPr lang="en-US" sz="1300"/>
          </a:p>
          <a:p>
            <a:pPr marL="0" indent="0" algn="l">
              <a:lnSpc>
                <a:spcPts val="1755"/>
              </a:lnSpc>
              <a:buNone/>
            </a:pPr>
            <a:r>
              <a:rPr lang="en-US" sz="1300" b="1">
                <a:solidFill>
                  <a:srgbClr val="EEF3EF"/>
                </a:solidFill>
                <a:latin typeface="IBM Plex Sans" pitchFamily="34" charset="0"/>
                <a:ea typeface="IBM Plex Sans" pitchFamily="34" charset="-122"/>
                <a:cs typeface="IBM Plex Sans" pitchFamily="34" charset="-120"/>
              </a:rPr>
              <a:t>Risk Committee</a:t>
            </a:r>
            <a:r>
              <a:rPr lang="en-US" sz="1300">
                <a:solidFill>
                  <a:srgbClr val="EEF3EF"/>
                </a:solidFill>
                <a:latin typeface="IBM Plex Sans" pitchFamily="34" charset="0"/>
                <a:ea typeface="IBM Plex Sans" pitchFamily="34" charset="-122"/>
                <a:cs typeface="IBM Plex Sans" pitchFamily="34" charset="-120"/>
              </a:rPr>
              <a:t> votes</a:t>
            </a:r>
            <a:endParaRPr lang="en-US" sz="1300"/>
          </a:p>
        </p:txBody>
      </p:sp>
      <p:sp>
        <p:nvSpPr>
          <p:cNvPr id="20" name="Text 18"/>
          <p:cNvSpPr/>
          <p:nvPr/>
        </p:nvSpPr>
        <p:spPr>
          <a:xfrm>
            <a:off x="8231122" y="4314825"/>
            <a:ext cx="2980833"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FD67A"/>
                </a:solidFill>
                <a:latin typeface="IBM Plex Mono" pitchFamily="49" charset="0"/>
                <a:ea typeface="IBM Plex Mono" pitchFamily="49" charset="-122"/>
                <a:cs typeface="IBM Plex Mono" pitchFamily="49" charset="-120"/>
              </a:rPr>
              <a:t>FOUR OUTCOMES</a:t>
            </a:r>
            <a:endParaRPr lang="en-US" sz="1200"/>
          </a:p>
        </p:txBody>
      </p:sp>
      <p:sp>
        <p:nvSpPr>
          <p:cNvPr id="21" name="Text 19"/>
          <p:cNvSpPr/>
          <p:nvPr/>
        </p:nvSpPr>
        <p:spPr>
          <a:xfrm>
            <a:off x="8231122" y="4604345"/>
            <a:ext cx="2980833" cy="916781"/>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Approved</a:t>
            </a:r>
            <a:endParaRPr lang="en-US" sz="1300"/>
          </a:p>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Approved with conditions</a:t>
            </a:r>
            <a:endParaRPr lang="en-US" sz="1300"/>
          </a:p>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Deferred</a:t>
            </a:r>
            <a:endParaRPr lang="en-US" sz="1300"/>
          </a:p>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Rejected</a:t>
            </a:r>
            <a:endParaRPr lang="en-US" sz="130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pitchFamily="34" charset="0"/>
                <a:ea typeface="IBM Plex Sans" pitchFamily="34" charset="-122"/>
                <a:cs typeface="IBM Plex Sans" pitchFamily="34" charset="-120"/>
              </a:rPr>
              <a:t>2</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OUR APPROACH</a:t>
            </a:r>
            <a:endParaRPr lang="en-US" sz="1200"/>
          </a:p>
        </p:txBody>
      </p:sp>
      <p:sp>
        <p:nvSpPr>
          <p:cNvPr id="3" name="Text 1"/>
          <p:cNvSpPr>
            <a:spLocks noGrp="1"/>
          </p:cNvSpPr>
          <p:nvPr>
            <p:ph type="title"/>
          </p:nvPr>
        </p:nvSpPr>
        <p:spPr>
          <a:xfrm>
            <a:off x="812800" y="1102320"/>
            <a:ext cx="11379200"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One pattern in every SDLC stage: AI proposes, the team decides</a:t>
            </a:r>
            <a:endParaRPr lang="en-US" sz="28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6946900" cy="3075582"/>
        </p:xfrm>
        <a:graphic>
          <a:graphicData uri="http://schemas.openxmlformats.org/drawingml/2006/table">
            <a:tbl>
              <a:tblPr/>
              <a:tblGrid>
                <a:gridCol w="3473450">
                  <a:extLst>
                    <a:ext uri="{9D8B030D-6E8A-4147-A177-3AD203B41FA5}">
                      <a16:colId xmlns:a16="http://schemas.microsoft.com/office/drawing/2014/main" val="20000"/>
                    </a:ext>
                  </a:extLst>
                </a:gridCol>
                <a:gridCol w="3473450">
                  <a:extLst>
                    <a:ext uri="{9D8B030D-6E8A-4147-A177-3AD203B41FA5}">
                      <a16:colId xmlns:a16="http://schemas.microsoft.com/office/drawing/2014/main" val="20001"/>
                    </a:ext>
                  </a:extLst>
                </a:gridCol>
              </a:tblGrid>
              <a:tr h="378420">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Stage</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What AI did</a:t>
                      </a:r>
                      <a:endParaRPr lang="en-US" sz="1200">
                        <a:latin typeface="IBM Plex Sans" charset="0"/>
                        <a:ea typeface="IBM Plex Sans" charset="0"/>
                        <a:cs typeface="IBM Plex Sans" charset="0"/>
                      </a:endParaRPr>
                    </a:p>
                  </a:txBody>
                  <a:tcPr marL="101600" marR="101600" marT="76200" marB="76200">
                    <a:lnL w="12700" cap="flat" cmpd="sng" algn="ctr">
                      <a:solidFill>
                        <a:srgbClr val="B5B7B4"/>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extLst>
                  <a:ext uri="{0D108BD9-81ED-4DB2-BD59-A6C34878D82A}">
                    <a16:rowId xmlns:a16="http://schemas.microsoft.com/office/drawing/2014/main" val="10000"/>
                  </a:ext>
                </a:extLst>
              </a:tr>
              <a:tr h="378420">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1 Requirements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Researched frameworks and drafted epics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1"/>
                  </a:ext>
                </a:extLst>
              </a:tr>
              <a:tr h="378420">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2 Design</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Drafted architecture, data model and diagrams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2"/>
                  </a:ext>
                </a:extLst>
              </a:tr>
              <a:tr h="591741">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3 Development</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Claude Code co-wrote the code; 3 AI features in the product</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3"/>
                  </a:ext>
                </a:extLst>
              </a:tr>
              <a:tr h="591741">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4 Testing</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Generated the e2e suite and filed defects to Boards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4"/>
                  </a:ext>
                </a:extLst>
              </a:tr>
              <a:tr h="378420">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5 Deployment</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Reviews every pull request in the pipeline</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5"/>
                  </a:ext>
                </a:extLst>
              </a:tr>
              <a:tr h="378420">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6 Operations</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200">
                          <a:solidFill>
                            <a:srgbClr val="14262A"/>
                          </a:solidFill>
                          <a:latin typeface="IBM Plex Sans" pitchFamily="34" charset="0"/>
                          <a:ea typeface="IBM Plex Sans" pitchFamily="34" charset="-122"/>
                          <a:cs typeface="IBM Plex Sans" pitchFamily="34" charset="-120"/>
                        </a:rPr>
                        <a:t>SRE watchdog agent triages live telemetry</a:t>
                      </a:r>
                      <a:endParaRPr lang="en-US" sz="1200">
                        <a:latin typeface="IBM Plex Sans" charset="0"/>
                        <a:ea typeface="IBM Plex Sans" charset="0"/>
                        <a:cs typeface="IBM Plex Sans" charset="0"/>
                      </a:endParaRPr>
                    </a:p>
                  </a:txBody>
                  <a:tcPr marL="101600" marR="1016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5013523"/>
            <a:ext cx="1107612" cy="340320"/>
          </a:xfrm>
          <a:prstGeom prst="roundRect">
            <a:avLst>
              <a:gd name="adj" fmla="val 50000"/>
            </a:avLst>
          </a:prstGeom>
          <a:solidFill>
            <a:srgbClr val="E3F5E9"/>
          </a:solidFill>
          <a:ln/>
        </p:spPr>
        <p:txBody>
          <a:bodyPr wrap="none" lIns="0" tIns="0" rIns="0" bIns="0" rtlCol="0" anchor="ctr">
            <a:normAutofit/>
          </a:bodyPr>
          <a:lstStyle/>
          <a:p>
            <a:pPr marL="0" indent="0" algn="ctr">
              <a:lnSpc>
                <a:spcPts val="1680"/>
              </a:lnSpc>
              <a:buNone/>
            </a:pPr>
            <a:r>
              <a:rPr lang="en-US" sz="1200" b="1">
                <a:solidFill>
                  <a:srgbClr val="14532D"/>
                </a:solidFill>
                <a:latin typeface="IBM Plex Sans" pitchFamily="34" charset="0"/>
                <a:ea typeface="IBM Plex Sans" pitchFamily="34" charset="-122"/>
                <a:cs typeface="IBM Plex Sans" pitchFamily="34" charset="-120"/>
              </a:rPr>
              <a:t>AI proposes</a:t>
            </a:r>
            <a:endParaRPr lang="en-US" sz="1200"/>
          </a:p>
        </p:txBody>
      </p:sp>
      <p:sp>
        <p:nvSpPr>
          <p:cNvPr id="6" name="Text 3"/>
          <p:cNvSpPr/>
          <p:nvPr/>
        </p:nvSpPr>
        <p:spPr>
          <a:xfrm>
            <a:off x="1996612" y="5077023"/>
            <a:ext cx="20320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a:t>
            </a:r>
            <a:endParaRPr lang="en-US" sz="1200"/>
          </a:p>
        </p:txBody>
      </p:sp>
      <p:sp>
        <p:nvSpPr>
          <p:cNvPr id="7" name="Text 4"/>
          <p:cNvSpPr/>
          <p:nvPr/>
        </p:nvSpPr>
        <p:spPr>
          <a:xfrm>
            <a:off x="2225212" y="5013523"/>
            <a:ext cx="1223169" cy="340320"/>
          </a:xfrm>
          <a:prstGeom prst="roundRect">
            <a:avLst>
              <a:gd name="adj" fmla="val 50000"/>
            </a:avLst>
          </a:prstGeom>
          <a:solidFill>
            <a:srgbClr val="E3F5E9"/>
          </a:solidFill>
          <a:ln/>
        </p:spPr>
        <p:txBody>
          <a:bodyPr wrap="none" lIns="0" tIns="0" rIns="0" bIns="0" rtlCol="0" anchor="ctr">
            <a:normAutofit/>
          </a:bodyPr>
          <a:lstStyle/>
          <a:p>
            <a:pPr marL="0" indent="0" algn="ctr">
              <a:lnSpc>
                <a:spcPts val="1680"/>
              </a:lnSpc>
              <a:buNone/>
            </a:pPr>
            <a:r>
              <a:rPr lang="en-US" sz="1200" b="1">
                <a:solidFill>
                  <a:srgbClr val="14532D"/>
                </a:solidFill>
                <a:latin typeface="IBM Plex Sans" pitchFamily="34" charset="0"/>
                <a:ea typeface="IBM Plex Sans" pitchFamily="34" charset="-122"/>
                <a:cs typeface="IBM Plex Sans" pitchFamily="34" charset="-120"/>
              </a:rPr>
              <a:t>Team reviews</a:t>
            </a:r>
            <a:endParaRPr lang="en-US" sz="1200"/>
          </a:p>
        </p:txBody>
      </p:sp>
      <p:sp>
        <p:nvSpPr>
          <p:cNvPr id="8" name="Text 5"/>
          <p:cNvSpPr/>
          <p:nvPr/>
        </p:nvSpPr>
        <p:spPr>
          <a:xfrm>
            <a:off x="3524581" y="5077023"/>
            <a:ext cx="20320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a:t>
            </a:r>
            <a:endParaRPr lang="en-US" sz="1200"/>
          </a:p>
        </p:txBody>
      </p:sp>
      <p:sp>
        <p:nvSpPr>
          <p:cNvPr id="9" name="Text 6"/>
          <p:cNvSpPr/>
          <p:nvPr/>
        </p:nvSpPr>
        <p:spPr>
          <a:xfrm>
            <a:off x="3753181" y="5013523"/>
            <a:ext cx="1348449" cy="340320"/>
          </a:xfrm>
          <a:prstGeom prst="roundRect">
            <a:avLst>
              <a:gd name="adj" fmla="val 50000"/>
            </a:avLst>
          </a:prstGeom>
          <a:solidFill>
            <a:srgbClr val="FDECD8"/>
          </a:solidFill>
          <a:ln/>
        </p:spPr>
        <p:txBody>
          <a:bodyPr wrap="none" lIns="0" tIns="0" rIns="0" bIns="0" rtlCol="0" anchor="ctr">
            <a:normAutofit/>
          </a:bodyPr>
          <a:lstStyle/>
          <a:p>
            <a:pPr marL="0" indent="0" algn="ctr">
              <a:lnSpc>
                <a:spcPts val="1680"/>
              </a:lnSpc>
              <a:buNone/>
            </a:pPr>
            <a:r>
              <a:rPr lang="en-US" sz="1200" b="1">
                <a:solidFill>
                  <a:srgbClr val="7A3D06"/>
                </a:solidFill>
                <a:latin typeface="IBM Plex Sans" pitchFamily="34" charset="0"/>
                <a:ea typeface="IBM Plex Sans" pitchFamily="34" charset="-122"/>
                <a:cs typeface="IBM Plex Sans" pitchFamily="34" charset="-120"/>
              </a:rPr>
              <a:t>Human decides</a:t>
            </a:r>
            <a:endParaRPr lang="en-US" sz="1200"/>
          </a:p>
        </p:txBody>
      </p:sp>
      <p:sp>
        <p:nvSpPr>
          <p:cNvPr id="10" name="Text 7"/>
          <p:cNvSpPr/>
          <p:nvPr/>
        </p:nvSpPr>
        <p:spPr>
          <a:xfrm>
            <a:off x="5177830" y="5077023"/>
            <a:ext cx="20320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a:t>
            </a:r>
            <a:endParaRPr lang="en-US" sz="1200"/>
          </a:p>
        </p:txBody>
      </p:sp>
      <p:sp>
        <p:nvSpPr>
          <p:cNvPr id="11" name="Text 8"/>
          <p:cNvSpPr/>
          <p:nvPr/>
        </p:nvSpPr>
        <p:spPr>
          <a:xfrm>
            <a:off x="5406430" y="5013523"/>
            <a:ext cx="1527969" cy="340320"/>
          </a:xfrm>
          <a:prstGeom prst="roundRect">
            <a:avLst>
              <a:gd name="adj" fmla="val 50000"/>
            </a:avLst>
          </a:prstGeom>
          <a:solidFill>
            <a:srgbClr val="0F2629"/>
          </a:solidFill>
          <a:ln/>
        </p:spPr>
        <p:txBody>
          <a:bodyPr wrap="none" lIns="0" tIns="0" rIns="0" bIns="0" rtlCol="0" anchor="ctr">
            <a:normAutofit/>
          </a:bodyPr>
          <a:lstStyle/>
          <a:p>
            <a:pPr marL="0" indent="0" algn="ctr">
              <a:lnSpc>
                <a:spcPts val="1680"/>
              </a:lnSpc>
              <a:buNone/>
            </a:pPr>
            <a:r>
              <a:rPr lang="en-US" sz="1200" b="1">
                <a:solidFill>
                  <a:srgbClr val="EEF3EF"/>
                </a:solidFill>
                <a:latin typeface="IBM Plex Sans" pitchFamily="34" charset="0"/>
                <a:ea typeface="IBM Plex Sans" pitchFamily="34" charset="-122"/>
                <a:cs typeface="IBM Plex Sans" pitchFamily="34" charset="-120"/>
              </a:rPr>
              <a:t>Decision recorded</a:t>
            </a:r>
            <a:endParaRPr lang="en-US" sz="1200"/>
          </a:p>
        </p:txBody>
      </p:sp>
      <p:sp>
        <p:nvSpPr>
          <p:cNvPr id="12" name="Shape 9"/>
          <p:cNvSpPr/>
          <p:nvPr/>
        </p:nvSpPr>
        <p:spPr>
          <a:xfrm>
            <a:off x="8080375" y="1776016"/>
            <a:ext cx="3295650" cy="3574653"/>
          </a:xfrm>
          <a:prstGeom prst="roundRect">
            <a:avLst>
              <a:gd name="adj" fmla="val 2987"/>
            </a:avLst>
          </a:prstGeom>
          <a:solidFill>
            <a:srgbClr val="FFFFFF"/>
          </a:solidFill>
          <a:ln w="6350">
            <a:solidFill>
              <a:srgbClr val="DFE5E1"/>
            </a:solidFill>
            <a:prstDash val="solid"/>
          </a:ln>
        </p:spPr>
        <p:txBody>
          <a:bodyPr/>
          <a:lstStyle/>
          <a:p>
            <a:endParaRPr lang="en-US"/>
          </a:p>
        </p:txBody>
      </p:sp>
      <p:sp>
        <p:nvSpPr>
          <p:cNvPr id="13" name="Text 10"/>
          <p:cNvSpPr/>
          <p:nvPr/>
        </p:nvSpPr>
        <p:spPr>
          <a:xfrm>
            <a:off x="8310034" y="2005674"/>
            <a:ext cx="10033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205</a:t>
            </a:r>
            <a:endParaRPr lang="en-US" sz="3000"/>
          </a:p>
        </p:txBody>
      </p:sp>
      <p:sp>
        <p:nvSpPr>
          <p:cNvPr id="14" name="Text 11"/>
          <p:cNvSpPr/>
          <p:nvPr/>
        </p:nvSpPr>
        <p:spPr>
          <a:xfrm>
            <a:off x="9389534" y="2074267"/>
            <a:ext cx="1809538" cy="421614"/>
          </a:xfrm>
          <a:prstGeom prst="rect">
            <a:avLst/>
          </a:prstGeom>
          <a:noFill/>
          <a:ln/>
        </p:spPr>
        <p:txBody>
          <a:bodyPr wrap="square" lIns="0" tIns="0" rIns="0" bIns="0" rtlCol="0" anchor="t">
            <a:normAutofit/>
          </a:bodyPr>
          <a:lstStyle/>
          <a:p>
            <a:pPr marL="0" indent="0" algn="l">
              <a:lnSpc>
                <a:spcPts val="1560"/>
              </a:lnSpc>
              <a:buNone/>
            </a:pPr>
            <a:r>
              <a:rPr lang="en-US" sz="1200">
                <a:solidFill>
                  <a:srgbClr val="14262A"/>
                </a:solidFill>
                <a:latin typeface="IBM Plex Sans" pitchFamily="34" charset="0"/>
                <a:ea typeface="IBM Plex Sans" pitchFamily="34" charset="-122"/>
                <a:cs typeface="IBM Plex Sans" pitchFamily="34" charset="-120"/>
              </a:rPr>
              <a:t>commits from 4 contributors</a:t>
            </a:r>
            <a:endParaRPr lang="en-US" sz="1200"/>
          </a:p>
        </p:txBody>
      </p:sp>
      <p:sp>
        <p:nvSpPr>
          <p:cNvPr id="15" name="Text 12"/>
          <p:cNvSpPr/>
          <p:nvPr/>
        </p:nvSpPr>
        <p:spPr>
          <a:xfrm>
            <a:off x="8310034" y="2716874"/>
            <a:ext cx="10033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141</a:t>
            </a:r>
            <a:endParaRPr lang="en-US" sz="3000"/>
          </a:p>
        </p:txBody>
      </p:sp>
      <p:sp>
        <p:nvSpPr>
          <p:cNvPr id="16" name="Text 13"/>
          <p:cNvSpPr/>
          <p:nvPr/>
        </p:nvSpPr>
        <p:spPr>
          <a:xfrm>
            <a:off x="9389534" y="2785467"/>
            <a:ext cx="1809538" cy="421614"/>
          </a:xfrm>
          <a:prstGeom prst="rect">
            <a:avLst/>
          </a:prstGeom>
          <a:noFill/>
          <a:ln/>
        </p:spPr>
        <p:txBody>
          <a:bodyPr wrap="square" lIns="0" tIns="0" rIns="0" bIns="0" rtlCol="0" anchor="t">
            <a:normAutofit/>
          </a:bodyPr>
          <a:lstStyle/>
          <a:p>
            <a:pPr marL="0" indent="0" algn="l">
              <a:lnSpc>
                <a:spcPts val="1560"/>
              </a:lnSpc>
              <a:buNone/>
            </a:pPr>
            <a:r>
              <a:rPr lang="en-US" sz="1200">
                <a:solidFill>
                  <a:srgbClr val="14262A"/>
                </a:solidFill>
                <a:latin typeface="IBM Plex Sans" pitchFamily="34" charset="0"/>
                <a:ea typeface="IBM Plex Sans" pitchFamily="34" charset="-122"/>
                <a:cs typeface="IBM Plex Sans" pitchFamily="34" charset="-120"/>
              </a:rPr>
              <a:t>co-authored with Claude (69%)</a:t>
            </a:r>
            <a:endParaRPr lang="en-US" sz="1200"/>
          </a:p>
        </p:txBody>
      </p:sp>
      <p:sp>
        <p:nvSpPr>
          <p:cNvPr id="17" name="Text 14"/>
          <p:cNvSpPr/>
          <p:nvPr/>
        </p:nvSpPr>
        <p:spPr>
          <a:xfrm>
            <a:off x="8310034" y="3428074"/>
            <a:ext cx="10033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20</a:t>
            </a:r>
            <a:endParaRPr lang="en-US" sz="3000"/>
          </a:p>
        </p:txBody>
      </p:sp>
      <p:sp>
        <p:nvSpPr>
          <p:cNvPr id="18" name="Text 15"/>
          <p:cNvSpPr/>
          <p:nvPr/>
        </p:nvSpPr>
        <p:spPr>
          <a:xfrm>
            <a:off x="9389534" y="3496667"/>
            <a:ext cx="1809538" cy="421614"/>
          </a:xfrm>
          <a:prstGeom prst="rect">
            <a:avLst/>
          </a:prstGeom>
          <a:noFill/>
          <a:ln/>
        </p:spPr>
        <p:txBody>
          <a:bodyPr wrap="square" lIns="0" tIns="0" rIns="0" bIns="0" rtlCol="0" anchor="t">
            <a:normAutofit/>
          </a:bodyPr>
          <a:lstStyle/>
          <a:p>
            <a:pPr marL="0" indent="0" algn="l">
              <a:lnSpc>
                <a:spcPts val="1560"/>
              </a:lnSpc>
              <a:buNone/>
            </a:pPr>
            <a:r>
              <a:rPr lang="en-US" sz="1200">
                <a:solidFill>
                  <a:srgbClr val="14262A"/>
                </a:solidFill>
                <a:latin typeface="IBM Plex Sans" pitchFamily="34" charset="0"/>
                <a:ea typeface="IBM Plex Sans" pitchFamily="34" charset="-122"/>
                <a:cs typeface="IBM Plex Sans" pitchFamily="34" charset="-120"/>
              </a:rPr>
              <a:t>epics, from intake to observability</a:t>
            </a:r>
            <a:endParaRPr lang="en-US" sz="1200"/>
          </a:p>
        </p:txBody>
      </p:sp>
      <p:sp>
        <p:nvSpPr>
          <p:cNvPr id="19" name="Text 16"/>
          <p:cNvSpPr/>
          <p:nvPr/>
        </p:nvSpPr>
        <p:spPr>
          <a:xfrm>
            <a:off x="8310034" y="4169702"/>
            <a:ext cx="10033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1</a:t>
            </a:r>
            <a:endParaRPr lang="en-US" sz="3000"/>
          </a:p>
        </p:txBody>
      </p:sp>
      <p:sp>
        <p:nvSpPr>
          <p:cNvPr id="20" name="Text 17"/>
          <p:cNvSpPr/>
          <p:nvPr/>
        </p:nvSpPr>
        <p:spPr>
          <a:xfrm>
            <a:off x="9389534" y="4139274"/>
            <a:ext cx="1809538" cy="619720"/>
          </a:xfrm>
          <a:prstGeom prst="rect">
            <a:avLst/>
          </a:prstGeom>
          <a:noFill/>
          <a:ln/>
        </p:spPr>
        <p:txBody>
          <a:bodyPr wrap="square" lIns="0" tIns="0" rIns="0" bIns="0" rtlCol="0" anchor="t">
            <a:normAutofit/>
          </a:bodyPr>
          <a:lstStyle/>
          <a:p>
            <a:pPr marL="0" indent="0" algn="l">
              <a:lnSpc>
                <a:spcPts val="1560"/>
              </a:lnSpc>
              <a:buNone/>
            </a:pPr>
            <a:r>
              <a:rPr lang="en-US" sz="1200">
                <a:solidFill>
                  <a:srgbClr val="14262A"/>
                </a:solidFill>
                <a:latin typeface="IBM Plex Sans" pitchFamily="34" charset="0"/>
                <a:ea typeface="IBM Plex Sans" pitchFamily="34" charset="-122"/>
                <a:cs typeface="IBM Plex Sans" pitchFamily="34" charset="-120"/>
              </a:rPr>
              <a:t>shared context file (CLAUDE.md) for every AI session</a:t>
            </a:r>
            <a:endParaRPr lang="en-US" sz="1200"/>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ea typeface="IBM Plex Sans" pitchFamily="34" charset="-122"/>
                <a:cs typeface="IBM Plex Sans" pitchFamily="34" charset="-120"/>
              </a:rPr>
              <a:t>3</a:t>
            </a:r>
            <a:endParaRPr lang="en-US" sz="1200">
              <a:latin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3044"/>
          </a:xfrm>
          <a:prstGeom prst="rect">
            <a:avLst/>
          </a:prstGeom>
          <a:noFill/>
          <a:ln/>
        </p:spPr>
        <p:txBody>
          <a:bodyPr wrap="square" lIns="0" tIns="0" rIns="0" bIns="0" rtlCol="0" anchor="t">
            <a:normAutofit/>
          </a:bodyPr>
          <a:lstStyle/>
          <a:p>
            <a:pPr marL="0" indent="0" algn="l">
              <a:lnSpc>
                <a:spcPts val="1570"/>
              </a:lnSpc>
              <a:buNone/>
            </a:pPr>
            <a:r>
              <a:rPr lang="en-US" sz="1121" kern="0" spc="100">
                <a:solidFill>
                  <a:srgbClr val="1C7A45"/>
                </a:solidFill>
                <a:latin typeface="IBM Plex Mono" pitchFamily="49" charset="0"/>
                <a:ea typeface="IBM Plex Mono" pitchFamily="49" charset="-122"/>
                <a:cs typeface="IBM Plex Mono" pitchFamily="49" charset="-120"/>
              </a:rPr>
              <a:t>STAGE 1 · REQUIREMENTS</a:t>
            </a:r>
            <a:endParaRPr lang="en-US" sz="1121"/>
          </a:p>
        </p:txBody>
      </p:sp>
      <p:sp>
        <p:nvSpPr>
          <p:cNvPr id="3" name="Text 1"/>
          <p:cNvSpPr>
            <a:spLocks noGrp="1"/>
          </p:cNvSpPr>
          <p:nvPr>
            <p:ph type="title"/>
          </p:nvPr>
        </p:nvSpPr>
        <p:spPr>
          <a:xfrm>
            <a:off x="812800" y="1086644"/>
            <a:ext cx="10883392" cy="387747"/>
          </a:xfrm>
          <a:prstGeom prst="rect">
            <a:avLst/>
          </a:prstGeom>
          <a:noFill/>
          <a:ln/>
        </p:spPr>
        <p:txBody>
          <a:bodyPr wrap="square" lIns="0" tIns="0" rIns="0" bIns="0" rtlCol="0" anchor="t">
            <a:normAutofit/>
          </a:bodyPr>
          <a:lstStyle/>
          <a:p>
            <a:pPr marL="0" indent="0" algn="l">
              <a:lnSpc>
                <a:spcPts val="2868"/>
              </a:lnSpc>
              <a:buNone/>
            </a:pPr>
            <a:r>
              <a:rPr lang="en-US" sz="2608" b="1" i="0">
                <a:solidFill>
                  <a:srgbClr val="14262A"/>
                </a:solidFill>
                <a:latin typeface="IBM Plex Sans" pitchFamily="34" charset="0"/>
                <a:ea typeface="IBM Plex Sans" pitchFamily="34" charset="-122"/>
                <a:cs typeface="IBM Plex Sans" pitchFamily="34" charset="-120"/>
              </a:rPr>
              <a:t>From a vague brief to a citable framework and 20 epics</a:t>
            </a:r>
            <a:endParaRPr lang="en-US" sz="2608"/>
          </a:p>
        </p:txBody>
      </p:sp>
      <p:sp>
        <p:nvSpPr>
          <p:cNvPr id="4" name="Text 2"/>
          <p:cNvSpPr/>
          <p:nvPr/>
        </p:nvSpPr>
        <p:spPr>
          <a:xfrm>
            <a:off x="812800" y="1728391"/>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14262A"/>
                </a:solidFill>
                <a:latin typeface="IBM Plex Sans" pitchFamily="34" charset="0"/>
                <a:ea typeface="IBM Plex Sans" pitchFamily="34" charset="-122"/>
                <a:cs typeface="IBM Plex Sans" pitchFamily="34" charset="-120"/>
              </a:rPr>
              <a:t>AI compared three frameworks; the team chose FFIEC</a:t>
            </a:r>
            <a:endParaRPr lang="en-US" sz="1500"/>
          </a:p>
        </p:txBody>
      </p:sp>
      <p:sp>
        <p:nvSpPr>
          <p:cNvPr id="5" name="Shape 3"/>
          <p:cNvSpPr/>
          <p:nvPr/>
        </p:nvSpPr>
        <p:spPr>
          <a:xfrm>
            <a:off x="819150" y="2064941"/>
            <a:ext cx="5422900" cy="993047"/>
          </a:xfrm>
          <a:prstGeom prst="roundRect">
            <a:avLst>
              <a:gd name="adj" fmla="val 9592"/>
            </a:avLst>
          </a:prstGeom>
          <a:solidFill>
            <a:srgbClr val="FFFFFF"/>
          </a:solidFill>
          <a:ln w="12700">
            <a:solidFill>
              <a:srgbClr val="1C7A45"/>
            </a:solidFill>
            <a:prstDash val="solid"/>
          </a:ln>
        </p:spPr>
        <p:txBody>
          <a:bodyPr/>
          <a:lstStyle/>
          <a:p>
            <a:endParaRPr lang="en-US"/>
          </a:p>
        </p:txBody>
      </p:sp>
      <p:sp>
        <p:nvSpPr>
          <p:cNvPr id="6" name="Text 4"/>
          <p:cNvSpPr/>
          <p:nvPr/>
        </p:nvSpPr>
        <p:spPr>
          <a:xfrm>
            <a:off x="1003300" y="2223691"/>
            <a:ext cx="5206238"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CHOSEN</a:t>
            </a:r>
            <a:r>
              <a:rPr lang="en-US" sz="1200" b="1">
                <a:solidFill>
                  <a:srgbClr val="14262A"/>
                </a:solidFill>
                <a:latin typeface="IBM Plex Sans" pitchFamily="34" charset="0"/>
                <a:ea typeface="IBM Plex Sans" pitchFamily="34" charset="-122"/>
                <a:cs typeface="IBM Plex Sans" pitchFamily="34" charset="-120"/>
              </a:rPr>
              <a:t> · FFIEC BSA/AML Examination Manual</a:t>
            </a:r>
            <a:endParaRPr lang="en-US" sz="1200"/>
          </a:p>
        </p:txBody>
      </p:sp>
      <p:sp>
        <p:nvSpPr>
          <p:cNvPr id="7" name="Text 5"/>
          <p:cNvSpPr/>
          <p:nvPr/>
        </p:nvSpPr>
        <p:spPr>
          <a:xfrm>
            <a:off x="1003300" y="2487811"/>
            <a:ext cx="5206238" cy="436827"/>
          </a:xfrm>
          <a:prstGeom prst="rect">
            <a:avLst/>
          </a:prstGeom>
          <a:noFill/>
          <a:ln/>
        </p:spPr>
        <p:txBody>
          <a:bodyPr wrap="square" lIns="0" tIns="0" rIns="0" bIns="0" rtlCol="0" anchor="t">
            <a:normAutofit/>
          </a:bodyPr>
          <a:lstStyle/>
          <a:p>
            <a:pPr marL="0" indent="0" algn="l">
              <a:lnSpc>
                <a:spcPts val="1620"/>
              </a:lnSpc>
              <a:buNone/>
            </a:pPr>
            <a:r>
              <a:rPr lang="en-US" sz="1200">
                <a:solidFill>
                  <a:srgbClr val="3D4D50"/>
                </a:solidFill>
                <a:latin typeface="IBM Plex Sans" pitchFamily="34" charset="0"/>
                <a:ea typeface="IBM Plex Sans" pitchFamily="34" charset="-122"/>
                <a:cs typeface="IBM Plex Sans" pitchFamily="34" charset="-120"/>
              </a:rPr>
              <a:t>US supervisory exam manual; its four risk areas (products, customers, geographies, delivery channels) cover every business line. Citable.</a:t>
            </a:r>
            <a:endParaRPr lang="en-US" sz="1200"/>
          </a:p>
        </p:txBody>
      </p:sp>
      <p:sp>
        <p:nvSpPr>
          <p:cNvPr id="8" name="Shape 6"/>
          <p:cNvSpPr/>
          <p:nvPr/>
        </p:nvSpPr>
        <p:spPr>
          <a:xfrm>
            <a:off x="815975" y="3169114"/>
            <a:ext cx="5429250" cy="982464"/>
          </a:xfrm>
          <a:prstGeom prst="roundRect">
            <a:avLst>
              <a:gd name="adj" fmla="val 10018"/>
            </a:avLst>
          </a:prstGeom>
          <a:solidFill>
            <a:srgbClr val="FFFFFF"/>
          </a:solidFill>
          <a:ln w="6350">
            <a:solidFill>
              <a:srgbClr val="DFE5E1"/>
            </a:solidFill>
            <a:prstDash val="solid"/>
          </a:ln>
        </p:spPr>
        <p:txBody>
          <a:bodyPr/>
          <a:lstStyle/>
          <a:p>
            <a:endParaRPr lang="en-US"/>
          </a:p>
        </p:txBody>
      </p:sp>
      <p:sp>
        <p:nvSpPr>
          <p:cNvPr id="9" name="Text 7"/>
          <p:cNvSpPr/>
          <p:nvPr/>
        </p:nvSpPr>
        <p:spPr>
          <a:xfrm>
            <a:off x="994833" y="3322572"/>
            <a:ext cx="5223679"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NOT CHOSEN</a:t>
            </a:r>
            <a:r>
              <a:rPr lang="en-US" sz="1200" b="1">
                <a:solidFill>
                  <a:srgbClr val="14262A"/>
                </a:solidFill>
                <a:latin typeface="IBM Plex Sans" pitchFamily="34" charset="0"/>
                <a:ea typeface="IBM Plex Sans" pitchFamily="34" charset="-122"/>
                <a:cs typeface="IBM Plex Sans" pitchFamily="34" charset="-120"/>
              </a:rPr>
              <a:t> · FATF Recommendations</a:t>
            </a:r>
            <a:endParaRPr lang="en-US" sz="1200"/>
          </a:p>
        </p:txBody>
      </p:sp>
      <p:sp>
        <p:nvSpPr>
          <p:cNvPr id="10" name="Text 8"/>
          <p:cNvSpPr/>
          <p:nvPr/>
        </p:nvSpPr>
        <p:spPr>
          <a:xfrm>
            <a:off x="994833" y="3586693"/>
            <a:ext cx="5223679" cy="436827"/>
          </a:xfrm>
          <a:prstGeom prst="rect">
            <a:avLst/>
          </a:prstGeom>
          <a:noFill/>
          <a:ln/>
        </p:spPr>
        <p:txBody>
          <a:bodyPr wrap="square" lIns="0" tIns="0" rIns="0" bIns="0" rtlCol="0" anchor="t">
            <a:normAutofit/>
          </a:bodyPr>
          <a:lstStyle/>
          <a:p>
            <a:pPr marL="0" indent="0" algn="l">
              <a:lnSpc>
                <a:spcPts val="1620"/>
              </a:lnSpc>
              <a:buNone/>
            </a:pPr>
            <a:r>
              <a:rPr lang="en-US" sz="1200">
                <a:solidFill>
                  <a:srgbClr val="3D4D50"/>
                </a:solidFill>
                <a:latin typeface="IBM Plex Sans" pitchFamily="34" charset="0"/>
                <a:ea typeface="IBM Plex Sans" pitchFamily="34" charset="-122"/>
                <a:cs typeface="IBM Plex Sans" pitchFamily="34" charset="-120"/>
              </a:rPr>
              <a:t>Standard for countries, not banks. FFIEC already uses FATF's high-risk jurisdiction lists.</a:t>
            </a:r>
            <a:endParaRPr lang="en-US" sz="1200"/>
          </a:p>
        </p:txBody>
      </p:sp>
      <p:sp>
        <p:nvSpPr>
          <p:cNvPr id="11" name="Shape 9"/>
          <p:cNvSpPr/>
          <p:nvPr/>
        </p:nvSpPr>
        <p:spPr>
          <a:xfrm>
            <a:off x="815975" y="4259528"/>
            <a:ext cx="5429250" cy="776751"/>
          </a:xfrm>
          <a:prstGeom prst="roundRect">
            <a:avLst>
              <a:gd name="adj" fmla="val 12671"/>
            </a:avLst>
          </a:prstGeom>
          <a:solidFill>
            <a:srgbClr val="FFFFFF"/>
          </a:solidFill>
          <a:ln w="6350">
            <a:solidFill>
              <a:srgbClr val="DFE5E1"/>
            </a:solidFill>
            <a:prstDash val="solid"/>
          </a:ln>
        </p:spPr>
        <p:txBody>
          <a:bodyPr/>
          <a:lstStyle/>
          <a:p>
            <a:endParaRPr lang="en-US"/>
          </a:p>
        </p:txBody>
      </p:sp>
      <p:sp>
        <p:nvSpPr>
          <p:cNvPr id="12" name="Text 10"/>
          <p:cNvSpPr/>
          <p:nvPr/>
        </p:nvSpPr>
        <p:spPr>
          <a:xfrm>
            <a:off x="994833" y="4412986"/>
            <a:ext cx="5223679"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A6B6E"/>
                </a:solidFill>
                <a:latin typeface="IBM Plex Sans" pitchFamily="34" charset="0"/>
                <a:ea typeface="IBM Plex Sans" pitchFamily="34" charset="-122"/>
                <a:cs typeface="IBM Plex Sans" pitchFamily="34" charset="-120"/>
              </a:rPr>
              <a:t>NOT CHOSEN</a:t>
            </a:r>
            <a:r>
              <a:rPr lang="en-US" sz="1200" b="1">
                <a:solidFill>
                  <a:srgbClr val="14262A"/>
                </a:solidFill>
                <a:latin typeface="IBM Plex Sans" pitchFamily="34" charset="0"/>
                <a:ea typeface="IBM Plex Sans" pitchFamily="34" charset="-122"/>
                <a:cs typeface="IBM Plex Sans" pitchFamily="34" charset="-120"/>
              </a:rPr>
              <a:t> · Wolfsberg Group guidance</a:t>
            </a:r>
            <a:endParaRPr lang="en-US" sz="1200"/>
          </a:p>
        </p:txBody>
      </p:sp>
      <p:sp>
        <p:nvSpPr>
          <p:cNvPr id="13" name="Text 11"/>
          <p:cNvSpPr/>
          <p:nvPr/>
        </p:nvSpPr>
        <p:spPr>
          <a:xfrm>
            <a:off x="994833" y="4677107"/>
            <a:ext cx="5223679" cy="231114"/>
          </a:xfrm>
          <a:prstGeom prst="rect">
            <a:avLst/>
          </a:prstGeom>
          <a:noFill/>
          <a:ln/>
        </p:spPr>
        <p:txBody>
          <a:bodyPr wrap="square" lIns="0" tIns="0" rIns="0" bIns="0" rtlCol="0" anchor="t">
            <a:normAutofit/>
          </a:bodyPr>
          <a:lstStyle/>
          <a:p>
            <a:pPr marL="0" indent="0" algn="l">
              <a:lnSpc>
                <a:spcPts val="1620"/>
              </a:lnSpc>
              <a:buNone/>
            </a:pPr>
            <a:r>
              <a:rPr lang="en-US" sz="1200">
                <a:solidFill>
                  <a:srgbClr val="3D4D50"/>
                </a:solidFill>
                <a:latin typeface="IBM Plex Sans" pitchFamily="34" charset="0"/>
                <a:ea typeface="IBM Plex Sans" pitchFamily="34" charset="-122"/>
                <a:cs typeface="IBM Plex Sans" pitchFamily="34" charset="-120"/>
              </a:rPr>
              <a:t>Useful industry practice, but not a framework examiners assess against.</a:t>
            </a:r>
            <a:endParaRPr lang="en-US" sz="1200"/>
          </a:p>
        </p:txBody>
      </p:sp>
      <p:sp>
        <p:nvSpPr>
          <p:cNvPr id="14" name="Text 12"/>
          <p:cNvSpPr/>
          <p:nvPr/>
        </p:nvSpPr>
        <p:spPr>
          <a:xfrm>
            <a:off x="6553200" y="1728391"/>
            <a:ext cx="4970780" cy="238323"/>
          </a:xfrm>
          <a:prstGeom prst="rect">
            <a:avLst/>
          </a:prstGeom>
          <a:noFill/>
          <a:ln/>
        </p:spPr>
        <p:txBody>
          <a:bodyPr wrap="square" lIns="0" tIns="0" rIns="0" bIns="0" rtlCol="0" anchor="t">
            <a:normAutofit/>
          </a:bodyPr>
          <a:lstStyle/>
          <a:p>
            <a:pPr marL="0" indent="0" algn="l">
              <a:lnSpc>
                <a:spcPts val="1721"/>
              </a:lnSpc>
              <a:buNone/>
            </a:pPr>
            <a:r>
              <a:rPr lang="en-US" sz="1434" b="1">
                <a:solidFill>
                  <a:srgbClr val="14262A"/>
                </a:solidFill>
                <a:latin typeface="IBM Plex Sans" pitchFamily="34" charset="0"/>
                <a:ea typeface="IBM Plex Sans" pitchFamily="34" charset="-122"/>
                <a:cs typeface="IBM Plex Sans" pitchFamily="34" charset="-120"/>
              </a:rPr>
              <a:t>How the backlog grew with every review</a:t>
            </a:r>
            <a:endParaRPr lang="en-US" sz="1434"/>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65900" y="2055614"/>
          <a:ext cx="4813300" cy="3493293"/>
        </p:xfrm>
        <a:graphic>
          <a:graphicData uri="http://schemas.openxmlformats.org/drawingml/2006/table">
            <a:tbl>
              <a:tblPr/>
              <a:tblGrid>
                <a:gridCol w="2406650">
                  <a:extLst>
                    <a:ext uri="{9D8B030D-6E8A-4147-A177-3AD203B41FA5}">
                      <a16:colId xmlns:a16="http://schemas.microsoft.com/office/drawing/2014/main" val="20000"/>
                    </a:ext>
                  </a:extLst>
                </a:gridCol>
                <a:gridCol w="2406650">
                  <a:extLst>
                    <a:ext uri="{9D8B030D-6E8A-4147-A177-3AD203B41FA5}">
                      <a16:colId xmlns:a16="http://schemas.microsoft.com/office/drawing/2014/main" val="20001"/>
                    </a:ext>
                  </a:extLst>
                </a:gridCol>
              </a:tblGrid>
              <a:tr h="333309">
                <a:tc>
                  <a:txBody>
                    <a:bodyPr/>
                    <a:lstStyle/>
                    <a:p>
                      <a:pPr marL="0" indent="0">
                        <a:lnSpc>
                          <a:spcPts val="1523"/>
                        </a:lnSpc>
                        <a:buNone/>
                      </a:pPr>
                      <a:r>
                        <a:rPr lang="en-US" sz="1088" b="1">
                          <a:solidFill>
                            <a:srgbClr val="14262A"/>
                          </a:solidFill>
                          <a:latin typeface="IBM Plex Sans" pitchFamily="34" charset="0"/>
                          <a:ea typeface="IBM Plex Sans" pitchFamily="34" charset="-122"/>
                          <a:cs typeface="IBM Plex Sans" pitchFamily="34" charset="-120"/>
                        </a:rPr>
                        <a:t>Epics</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tc>
                  <a:txBody>
                    <a:bodyPr/>
                    <a:lstStyle/>
                    <a:p>
                      <a:pPr marL="0" indent="0">
                        <a:lnSpc>
                          <a:spcPts val="1523"/>
                        </a:lnSpc>
                        <a:buNone/>
                      </a:pPr>
                      <a:r>
                        <a:rPr lang="en-US" sz="1088" b="1">
                          <a:solidFill>
                            <a:srgbClr val="14262A"/>
                          </a:solidFill>
                          <a:latin typeface="IBM Plex Sans" pitchFamily="34" charset="0"/>
                          <a:ea typeface="IBM Plex Sans" pitchFamily="34" charset="-122"/>
                          <a:cs typeface="IBM Plex Sans" pitchFamily="34" charset="-120"/>
                        </a:rPr>
                        <a:t>Source of the scope</a:t>
                      </a:r>
                      <a:endParaRPr lang="en-US" sz="1088">
                        <a:latin typeface="IBM Plex Sans" charset="0"/>
                        <a:ea typeface="IBM Plex Sans" charset="0"/>
                        <a:cs typeface="IBM Plex Sans" charset="0"/>
                      </a:endParaRPr>
                    </a:p>
                  </a:txBody>
                  <a:tcPr marL="76200" marR="76200" marT="63500" marB="63500">
                    <a:lnL w="12700" cap="flat" cmpd="sng" algn="ctr">
                      <a:solidFill>
                        <a:srgbClr val="B5B7B4"/>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extLst>
                  <a:ext uri="{0D108BD9-81ED-4DB2-BD59-A6C34878D82A}">
                    <a16:rowId xmlns:a16="http://schemas.microsoft.com/office/drawing/2014/main" val="10000"/>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1–10</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AI-drafted from the brief: intake, AI, scoring, committee, audit</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1"/>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11–13</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QA review (17 Sep): access control, deployment, NFRs</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2"/>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14</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Mock bank systems behind a data-ingestion layer</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3"/>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15–18</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DevOps: Terraform, CI/CD, observability</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4"/>
                  </a:ext>
                </a:extLst>
              </a:tr>
              <a:tr h="526653">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19</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SLA tracking, added after first build testing</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5"/>
                  </a:ext>
                </a:extLst>
              </a:tr>
              <a:tr h="526719">
                <a:tc>
                  <a:txBody>
                    <a:bodyPr/>
                    <a:lstStyle/>
                    <a:p>
                      <a:pPr marL="0" indent="0">
                        <a:lnSpc>
                          <a:spcPts val="1523"/>
                        </a:lnSpc>
                        <a:buNone/>
                      </a:pPr>
                      <a:r>
                        <a:rPr lang="en-US" sz="1088">
                          <a:solidFill>
                            <a:srgbClr val="1C7A45"/>
                          </a:solidFill>
                          <a:latin typeface="IBM Plex Sans" pitchFamily="34" charset="0"/>
                          <a:ea typeface="IBM Plex Sans" pitchFamily="34" charset="-122"/>
                          <a:cs typeface="IBM Plex Sans" pitchFamily="34" charset="-120"/>
                        </a:rPr>
                        <a:t>20</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523"/>
                        </a:lnSpc>
                        <a:buNone/>
                      </a:pPr>
                      <a:r>
                        <a:rPr lang="en-US" sz="1088">
                          <a:solidFill>
                            <a:srgbClr val="14262A"/>
                          </a:solidFill>
                          <a:latin typeface="IBM Plex Sans" pitchFamily="34" charset="0"/>
                          <a:ea typeface="IBM Plex Sans" pitchFamily="34" charset="-122"/>
                          <a:cs typeface="IBM Plex Sans" pitchFamily="34" charset="-120"/>
                        </a:rPr>
                        <a:t>AI orchestration state, LangGraph evaluation</a:t>
                      </a:r>
                      <a:endParaRPr lang="en-US" sz="1088">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6" name="Text 13"/>
          <p:cNvSpPr/>
          <p:nvPr/>
        </p:nvSpPr>
        <p:spPr>
          <a:xfrm>
            <a:off x="6553200" y="5650508"/>
            <a:ext cx="4970780" cy="216892"/>
          </a:xfrm>
          <a:prstGeom prst="rect">
            <a:avLst/>
          </a:prstGeom>
          <a:noFill/>
          <a:ln/>
        </p:spPr>
        <p:txBody>
          <a:bodyPr wrap="square" lIns="0" tIns="0" rIns="0" bIns="0" rtlCol="0" anchor="t">
            <a:noAutofit/>
          </a:bodyPr>
          <a:lstStyle/>
          <a:p>
            <a:pPr>
              <a:lnSpc>
                <a:spcPts val="1524"/>
              </a:lnSpc>
            </a:pPr>
            <a:r>
              <a:rPr lang="en-US" sz="1100">
                <a:solidFill>
                  <a:srgbClr val="7A3D06"/>
                </a:solidFill>
                <a:latin typeface="IBM Plex Sans"/>
                <a:ea typeface="IBM Plex Sans" pitchFamily="34" charset="-122"/>
                <a:cs typeface="IBM Plex Sans" pitchFamily="34" charset="-120"/>
              </a:rPr>
              <a:t>Every AI epic </a:t>
            </a:r>
            <a:r>
              <a:rPr lang="en-US" sz="1100">
                <a:solidFill>
                  <a:srgbClr val="7A3D06"/>
                </a:solidFill>
                <a:ea typeface="+mn-lt"/>
                <a:cs typeface="+mn-lt"/>
              </a:rPr>
              <a:t>has a matching story for human review and sign-off</a:t>
            </a:r>
            <a:endParaRPr lang="en-US" sz="1129"/>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ea typeface="IBM Plex Sans" pitchFamily="34" charset="-122"/>
                <a:cs typeface="IBM Plex Sans" pitchFamily="34" charset="-120"/>
              </a:rPr>
              <a:t>4</a:t>
            </a:r>
            <a:endParaRPr lang="en-US" sz="1200">
              <a:latin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STAGE 2 · DESIGN AND WORKFLOW</a:t>
            </a:r>
            <a:endParaRPr lang="en-US" sz="1200"/>
          </a:p>
        </p:txBody>
      </p:sp>
      <p:sp>
        <p:nvSpPr>
          <p:cNvPr id="3" name="Text 1"/>
          <p:cNvSpPr>
            <a:spLocks noGrp="1"/>
          </p:cNvSpPr>
          <p:nvPr>
            <p:ph type="title"/>
          </p:nvPr>
        </p:nvSpPr>
        <p:spPr>
          <a:xfrm>
            <a:off x="812800" y="1102320"/>
            <a:ext cx="11379200"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Only three workflow steps call a model; the rest is deterministic</a:t>
            </a:r>
            <a:endParaRPr lang="en-US" sz="2800"/>
          </a:p>
        </p:txBody>
      </p:sp>
      <p:sp>
        <p:nvSpPr>
          <p:cNvPr id="40" name="Text 3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ea typeface="IBM Plex Sans" pitchFamily="34" charset="-122"/>
                <a:cs typeface="IBM Plex Sans" pitchFamily="34" charset="-120"/>
              </a:rPr>
              <a:t>5</a:t>
            </a:r>
            <a:endParaRPr lang="en-US" sz="1200">
              <a:solidFill>
                <a:srgbClr val="5A6B6E"/>
              </a:solidFill>
              <a:latin typeface="IBM Plex Sans"/>
            </a:endParaRPr>
          </a:p>
        </p:txBody>
      </p:sp>
      <p:sp>
        <p:nvSpPr>
          <p:cNvPr id="42" name="TextBox 41">
            <a:extLst>
              <a:ext uri="{FF2B5EF4-FFF2-40B4-BE49-F238E27FC236}">
                <a16:creationId xmlns:a16="http://schemas.microsoft.com/office/drawing/2014/main" id="{6D8E5AA1-6D54-FCE3-CA15-A237DA904BE4}"/>
              </a:ext>
            </a:extLst>
          </p:cNvPr>
          <p:cNvSpPr txBox="1"/>
          <p:nvPr/>
        </p:nvSpPr>
        <p:spPr>
          <a:xfrm>
            <a:off x="818683" y="1633306"/>
            <a:ext cx="7498079" cy="274320"/>
          </a:xfrm>
          <a:prstGeom prst="rect">
            <a:avLst/>
          </a:prstGeom>
          <a:noFill/>
        </p:spPr>
        <p:txBody>
          <a:bodyPr wrap="square" lIns="0" tIns="0" rIns="0" bIns="0" anchor="t">
            <a:spAutoFit/>
          </a:bodyPr>
          <a:lstStyle/>
          <a:p>
            <a:pPr algn="l"/>
            <a:r>
              <a:rPr sz="1200" b="0" i="0">
                <a:solidFill>
                  <a:srgbClr val="5F6B6D"/>
                </a:solidFill>
                <a:latin typeface="Segoe UI"/>
              </a:rPr>
              <a:t>React SPA (Auth0 roles)  →  .NET API (role checks at the API)  →  services</a:t>
            </a:r>
          </a:p>
        </p:txBody>
      </p:sp>
      <p:sp>
        <p:nvSpPr>
          <p:cNvPr id="44" name="Rounded Rectangle 5">
            <a:extLst>
              <a:ext uri="{FF2B5EF4-FFF2-40B4-BE49-F238E27FC236}">
                <a16:creationId xmlns:a16="http://schemas.microsoft.com/office/drawing/2014/main" id="{C7E3CC32-3EEC-58EC-A636-D9E77145F868}"/>
              </a:ext>
            </a:extLst>
          </p:cNvPr>
          <p:cNvSpPr/>
          <p:nvPr/>
        </p:nvSpPr>
        <p:spPr>
          <a:xfrm>
            <a:off x="818683" y="2044786"/>
            <a:ext cx="1143000" cy="1097280"/>
          </a:xfrm>
          <a:prstGeom prst="roundRect">
            <a:avLst>
              <a:gd name="adj" fmla="val 8000"/>
            </a:avLst>
          </a:prstGeom>
          <a:solidFill>
            <a:srgbClr val="09A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3081DC95-BACE-0695-BF01-E903FDCA4A84}"/>
              </a:ext>
            </a:extLst>
          </p:cNvPr>
          <p:cNvSpPr txBox="1"/>
          <p:nvPr/>
        </p:nvSpPr>
        <p:spPr>
          <a:xfrm>
            <a:off x="891835"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Category mapping</a:t>
            </a:r>
          </a:p>
        </p:txBody>
      </p:sp>
      <p:sp>
        <p:nvSpPr>
          <p:cNvPr id="48" name="Rounded Rectangle 7">
            <a:extLst>
              <a:ext uri="{FF2B5EF4-FFF2-40B4-BE49-F238E27FC236}">
                <a16:creationId xmlns:a16="http://schemas.microsoft.com/office/drawing/2014/main" id="{1A2AFBCF-43EF-F61C-CFC8-0EBB8B269E4C}"/>
              </a:ext>
            </a:extLst>
          </p:cNvPr>
          <p:cNvSpPr/>
          <p:nvPr/>
        </p:nvSpPr>
        <p:spPr>
          <a:xfrm>
            <a:off x="1019851"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9A78D"/>
                </a:solidFill>
                <a:latin typeface="Segoe UI"/>
              </a:rPr>
              <a:t>AI</a:t>
            </a:r>
          </a:p>
        </p:txBody>
      </p:sp>
      <p:sp>
        <p:nvSpPr>
          <p:cNvPr id="50" name="Right Arrow 8">
            <a:extLst>
              <a:ext uri="{FF2B5EF4-FFF2-40B4-BE49-F238E27FC236}">
                <a16:creationId xmlns:a16="http://schemas.microsoft.com/office/drawing/2014/main" id="{9367C0F3-2CD2-C3E1-1E8E-7E7B7579CAF4}"/>
              </a:ext>
            </a:extLst>
          </p:cNvPr>
          <p:cNvSpPr/>
          <p:nvPr/>
        </p:nvSpPr>
        <p:spPr>
          <a:xfrm>
            <a:off x="1970827"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9">
            <a:extLst>
              <a:ext uri="{FF2B5EF4-FFF2-40B4-BE49-F238E27FC236}">
                <a16:creationId xmlns:a16="http://schemas.microsoft.com/office/drawing/2014/main" id="{823A0C40-284F-AED1-5091-0E1265E1714F}"/>
              </a:ext>
            </a:extLst>
          </p:cNvPr>
          <p:cNvSpPr/>
          <p:nvPr/>
        </p:nvSpPr>
        <p:spPr>
          <a:xfrm>
            <a:off x="2080555" y="2044786"/>
            <a:ext cx="1143000" cy="1097280"/>
          </a:xfrm>
          <a:prstGeom prst="roundRect">
            <a:avLst>
              <a:gd name="adj" fmla="val 8000"/>
            </a:avLst>
          </a:prstGeom>
          <a:solidFill>
            <a:srgbClr val="337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2764A136-618F-C9F5-79E7-AA860189DF29}"/>
              </a:ext>
            </a:extLst>
          </p:cNvPr>
          <p:cNvSpPr txBox="1"/>
          <p:nvPr/>
        </p:nvSpPr>
        <p:spPr>
          <a:xfrm>
            <a:off x="2153707"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Policy search</a:t>
            </a:r>
          </a:p>
        </p:txBody>
      </p:sp>
      <p:sp>
        <p:nvSpPr>
          <p:cNvPr id="56" name="Rounded Rectangle 11">
            <a:extLst>
              <a:ext uri="{FF2B5EF4-FFF2-40B4-BE49-F238E27FC236}">
                <a16:creationId xmlns:a16="http://schemas.microsoft.com/office/drawing/2014/main" id="{DC6F224C-FDB5-EF72-55A7-2D59A6B9105B}"/>
              </a:ext>
            </a:extLst>
          </p:cNvPr>
          <p:cNvSpPr/>
          <p:nvPr/>
        </p:nvSpPr>
        <p:spPr>
          <a:xfrm>
            <a:off x="2281723"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37077"/>
                </a:solidFill>
                <a:latin typeface="Segoe UI"/>
              </a:rPr>
              <a:t>Rules</a:t>
            </a:r>
          </a:p>
        </p:txBody>
      </p:sp>
      <p:sp>
        <p:nvSpPr>
          <p:cNvPr id="58" name="Right Arrow 12">
            <a:extLst>
              <a:ext uri="{FF2B5EF4-FFF2-40B4-BE49-F238E27FC236}">
                <a16:creationId xmlns:a16="http://schemas.microsoft.com/office/drawing/2014/main" id="{F3DE9D6D-97A7-C805-773C-50A63A839493}"/>
              </a:ext>
            </a:extLst>
          </p:cNvPr>
          <p:cNvSpPr/>
          <p:nvPr/>
        </p:nvSpPr>
        <p:spPr>
          <a:xfrm>
            <a:off x="3232699"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13">
            <a:extLst>
              <a:ext uri="{FF2B5EF4-FFF2-40B4-BE49-F238E27FC236}">
                <a16:creationId xmlns:a16="http://schemas.microsoft.com/office/drawing/2014/main" id="{A2D89E37-E112-4499-D6D6-6A04625692CE}"/>
              </a:ext>
            </a:extLst>
          </p:cNvPr>
          <p:cNvSpPr/>
          <p:nvPr/>
        </p:nvSpPr>
        <p:spPr>
          <a:xfrm>
            <a:off x="3342427" y="2044786"/>
            <a:ext cx="1143000" cy="1097280"/>
          </a:xfrm>
          <a:prstGeom prst="roundRect">
            <a:avLst>
              <a:gd name="adj" fmla="val 8000"/>
            </a:avLst>
          </a:prstGeom>
          <a:solidFill>
            <a:srgbClr val="09A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a:extLst>
              <a:ext uri="{FF2B5EF4-FFF2-40B4-BE49-F238E27FC236}">
                <a16:creationId xmlns:a16="http://schemas.microsoft.com/office/drawing/2014/main" id="{BFDE95C1-5B7C-A43C-7FD4-6D4A8966941E}"/>
              </a:ext>
            </a:extLst>
          </p:cNvPr>
          <p:cNvSpPr txBox="1"/>
          <p:nvPr/>
        </p:nvSpPr>
        <p:spPr>
          <a:xfrm>
            <a:off x="3415579"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Document extraction</a:t>
            </a:r>
          </a:p>
        </p:txBody>
      </p:sp>
      <p:sp>
        <p:nvSpPr>
          <p:cNvPr id="64" name="Rounded Rectangle 15">
            <a:extLst>
              <a:ext uri="{FF2B5EF4-FFF2-40B4-BE49-F238E27FC236}">
                <a16:creationId xmlns:a16="http://schemas.microsoft.com/office/drawing/2014/main" id="{7F6A1042-60D0-9B78-C1C3-80EFF78BA684}"/>
              </a:ext>
            </a:extLst>
          </p:cNvPr>
          <p:cNvSpPr/>
          <p:nvPr/>
        </p:nvSpPr>
        <p:spPr>
          <a:xfrm>
            <a:off x="3543595"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9A78D"/>
                </a:solidFill>
                <a:latin typeface="Segoe UI"/>
              </a:rPr>
              <a:t>AI</a:t>
            </a:r>
          </a:p>
        </p:txBody>
      </p:sp>
      <p:sp>
        <p:nvSpPr>
          <p:cNvPr id="66" name="Right Arrow 16">
            <a:extLst>
              <a:ext uri="{FF2B5EF4-FFF2-40B4-BE49-F238E27FC236}">
                <a16:creationId xmlns:a16="http://schemas.microsoft.com/office/drawing/2014/main" id="{8AAFF8B9-ADF5-959C-00C5-F8CD9AE34380}"/>
              </a:ext>
            </a:extLst>
          </p:cNvPr>
          <p:cNvSpPr/>
          <p:nvPr/>
        </p:nvSpPr>
        <p:spPr>
          <a:xfrm>
            <a:off x="4494571"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17">
            <a:extLst>
              <a:ext uri="{FF2B5EF4-FFF2-40B4-BE49-F238E27FC236}">
                <a16:creationId xmlns:a16="http://schemas.microsoft.com/office/drawing/2014/main" id="{448E4578-B67D-204A-F4CA-B1D9F429953D}"/>
              </a:ext>
            </a:extLst>
          </p:cNvPr>
          <p:cNvSpPr/>
          <p:nvPr/>
        </p:nvSpPr>
        <p:spPr>
          <a:xfrm>
            <a:off x="4604299" y="2044786"/>
            <a:ext cx="1143000" cy="1097280"/>
          </a:xfrm>
          <a:prstGeom prst="roundRect">
            <a:avLst>
              <a:gd name="adj" fmla="val 8000"/>
            </a:avLst>
          </a:prstGeom>
          <a:solidFill>
            <a:srgbClr val="09A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a:extLst>
              <a:ext uri="{FF2B5EF4-FFF2-40B4-BE49-F238E27FC236}">
                <a16:creationId xmlns:a16="http://schemas.microsoft.com/office/drawing/2014/main" id="{AE86B48A-7AF4-FE5D-6130-3D63E7D9FCE1}"/>
              </a:ext>
            </a:extLst>
          </p:cNvPr>
          <p:cNvSpPr txBox="1"/>
          <p:nvPr/>
        </p:nvSpPr>
        <p:spPr>
          <a:xfrm>
            <a:off x="4677451"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Narrative drafting</a:t>
            </a:r>
          </a:p>
        </p:txBody>
      </p:sp>
      <p:sp>
        <p:nvSpPr>
          <p:cNvPr id="72" name="Rounded Rectangle 19">
            <a:extLst>
              <a:ext uri="{FF2B5EF4-FFF2-40B4-BE49-F238E27FC236}">
                <a16:creationId xmlns:a16="http://schemas.microsoft.com/office/drawing/2014/main" id="{25975618-1D00-BFED-0D14-529AABF668C2}"/>
              </a:ext>
            </a:extLst>
          </p:cNvPr>
          <p:cNvSpPr/>
          <p:nvPr/>
        </p:nvSpPr>
        <p:spPr>
          <a:xfrm>
            <a:off x="4805467"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9A78D"/>
                </a:solidFill>
                <a:latin typeface="Segoe UI"/>
              </a:rPr>
              <a:t>AI</a:t>
            </a:r>
          </a:p>
        </p:txBody>
      </p:sp>
      <p:sp>
        <p:nvSpPr>
          <p:cNvPr id="74" name="Right Arrow 20">
            <a:extLst>
              <a:ext uri="{FF2B5EF4-FFF2-40B4-BE49-F238E27FC236}">
                <a16:creationId xmlns:a16="http://schemas.microsoft.com/office/drawing/2014/main" id="{C8598FC8-0C03-33C4-2DB8-741C8783597A}"/>
              </a:ext>
            </a:extLst>
          </p:cNvPr>
          <p:cNvSpPr/>
          <p:nvPr/>
        </p:nvSpPr>
        <p:spPr>
          <a:xfrm>
            <a:off x="5756443"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21">
            <a:extLst>
              <a:ext uri="{FF2B5EF4-FFF2-40B4-BE49-F238E27FC236}">
                <a16:creationId xmlns:a16="http://schemas.microsoft.com/office/drawing/2014/main" id="{4EB8D115-BE0F-E2E5-9906-C5A111634984}"/>
              </a:ext>
            </a:extLst>
          </p:cNvPr>
          <p:cNvSpPr/>
          <p:nvPr/>
        </p:nvSpPr>
        <p:spPr>
          <a:xfrm>
            <a:off x="5866170" y="2044786"/>
            <a:ext cx="1143000" cy="1097280"/>
          </a:xfrm>
          <a:prstGeom prst="roundRect">
            <a:avLst>
              <a:gd name="adj" fmla="val 8000"/>
            </a:avLst>
          </a:prstGeom>
          <a:solidFill>
            <a:srgbClr val="337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a:extLst>
              <a:ext uri="{FF2B5EF4-FFF2-40B4-BE49-F238E27FC236}">
                <a16:creationId xmlns:a16="http://schemas.microsoft.com/office/drawing/2014/main" id="{AE4B6A03-4748-3D02-F238-2C61174B65A3}"/>
              </a:ext>
            </a:extLst>
          </p:cNvPr>
          <p:cNvSpPr txBox="1"/>
          <p:nvPr/>
        </p:nvSpPr>
        <p:spPr>
          <a:xfrm>
            <a:off x="5939322"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Scoring</a:t>
            </a:r>
          </a:p>
        </p:txBody>
      </p:sp>
      <p:sp>
        <p:nvSpPr>
          <p:cNvPr id="80" name="Rounded Rectangle 23">
            <a:extLst>
              <a:ext uri="{FF2B5EF4-FFF2-40B4-BE49-F238E27FC236}">
                <a16:creationId xmlns:a16="http://schemas.microsoft.com/office/drawing/2014/main" id="{4C6045CA-BE3E-BABC-A96F-59DFF6B50FEC}"/>
              </a:ext>
            </a:extLst>
          </p:cNvPr>
          <p:cNvSpPr/>
          <p:nvPr/>
        </p:nvSpPr>
        <p:spPr>
          <a:xfrm>
            <a:off x="6067338"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37077"/>
                </a:solidFill>
                <a:latin typeface="Segoe UI"/>
              </a:rPr>
              <a:t>Rules</a:t>
            </a:r>
          </a:p>
        </p:txBody>
      </p:sp>
      <p:sp>
        <p:nvSpPr>
          <p:cNvPr id="82" name="Right Arrow 24">
            <a:extLst>
              <a:ext uri="{FF2B5EF4-FFF2-40B4-BE49-F238E27FC236}">
                <a16:creationId xmlns:a16="http://schemas.microsoft.com/office/drawing/2014/main" id="{77EC4049-85D3-8DD7-EF50-AFDAFD3033F5}"/>
              </a:ext>
            </a:extLst>
          </p:cNvPr>
          <p:cNvSpPr/>
          <p:nvPr/>
        </p:nvSpPr>
        <p:spPr>
          <a:xfrm>
            <a:off x="7018314" y="2483698"/>
            <a:ext cx="100584" cy="201168"/>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25">
            <a:extLst>
              <a:ext uri="{FF2B5EF4-FFF2-40B4-BE49-F238E27FC236}">
                <a16:creationId xmlns:a16="http://schemas.microsoft.com/office/drawing/2014/main" id="{3A6018C0-DD4E-C4A7-CEBB-549DEF15BF18}"/>
              </a:ext>
            </a:extLst>
          </p:cNvPr>
          <p:cNvSpPr/>
          <p:nvPr/>
        </p:nvSpPr>
        <p:spPr>
          <a:xfrm>
            <a:off x="7128043" y="2044786"/>
            <a:ext cx="1143000" cy="1097280"/>
          </a:xfrm>
          <a:prstGeom prst="roundRect">
            <a:avLst>
              <a:gd name="adj" fmla="val 8000"/>
            </a:avLst>
          </a:prstGeom>
          <a:solidFill>
            <a:srgbClr val="0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Box 85">
            <a:extLst>
              <a:ext uri="{FF2B5EF4-FFF2-40B4-BE49-F238E27FC236}">
                <a16:creationId xmlns:a16="http://schemas.microsoft.com/office/drawing/2014/main" id="{EF55173A-2DBC-BD78-17EE-8D4DABC7FB49}"/>
              </a:ext>
            </a:extLst>
          </p:cNvPr>
          <p:cNvSpPr txBox="1"/>
          <p:nvPr/>
        </p:nvSpPr>
        <p:spPr>
          <a:xfrm>
            <a:off x="7201195" y="2117938"/>
            <a:ext cx="996696" cy="640080"/>
          </a:xfrm>
          <a:prstGeom prst="rect">
            <a:avLst/>
          </a:prstGeom>
          <a:noFill/>
        </p:spPr>
        <p:txBody>
          <a:bodyPr wrap="square" lIns="0" tIns="0" rIns="0" bIns="0" anchor="t">
            <a:spAutoFit/>
          </a:bodyPr>
          <a:lstStyle/>
          <a:p>
            <a:pPr algn="ctr"/>
            <a:r>
              <a:rPr sz="1200" b="1" i="0">
                <a:solidFill>
                  <a:srgbClr val="FFFFFF"/>
                </a:solidFill>
                <a:latin typeface="Segoe UI"/>
              </a:rPr>
              <a:t>Committee vote</a:t>
            </a:r>
          </a:p>
        </p:txBody>
      </p:sp>
      <p:sp>
        <p:nvSpPr>
          <p:cNvPr id="88" name="Rounded Rectangle 27">
            <a:extLst>
              <a:ext uri="{FF2B5EF4-FFF2-40B4-BE49-F238E27FC236}">
                <a16:creationId xmlns:a16="http://schemas.microsoft.com/office/drawing/2014/main" id="{6551B542-34D0-D162-5972-C8B7C6D9939E}"/>
              </a:ext>
            </a:extLst>
          </p:cNvPr>
          <p:cNvSpPr/>
          <p:nvPr/>
        </p:nvSpPr>
        <p:spPr>
          <a:xfrm>
            <a:off x="7329211" y="2794594"/>
            <a:ext cx="74066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C2226"/>
                </a:solidFill>
                <a:latin typeface="Segoe UI"/>
              </a:rPr>
              <a:t>Human</a:t>
            </a:r>
          </a:p>
        </p:txBody>
      </p:sp>
      <p:sp>
        <p:nvSpPr>
          <p:cNvPr id="90" name="Rounded Rectangle 28">
            <a:extLst>
              <a:ext uri="{FF2B5EF4-FFF2-40B4-BE49-F238E27FC236}">
                <a16:creationId xmlns:a16="http://schemas.microsoft.com/office/drawing/2014/main" id="{D8E08BBF-90CA-F260-0BCE-865CAD16574D}"/>
              </a:ext>
            </a:extLst>
          </p:cNvPr>
          <p:cNvSpPr/>
          <p:nvPr/>
        </p:nvSpPr>
        <p:spPr>
          <a:xfrm>
            <a:off x="818683" y="3370666"/>
            <a:ext cx="7251192" cy="667512"/>
          </a:xfrm>
          <a:prstGeom prst="roundRect">
            <a:avLst>
              <a:gd name="adj" fmla="val 8000"/>
            </a:avLst>
          </a:prstGeom>
          <a:solidFill>
            <a:srgbClr val="CBEB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TextBox 91">
            <a:extLst>
              <a:ext uri="{FF2B5EF4-FFF2-40B4-BE49-F238E27FC236}">
                <a16:creationId xmlns:a16="http://schemas.microsoft.com/office/drawing/2014/main" id="{C047AB66-6162-C340-F811-A398CF80BB63}"/>
              </a:ext>
            </a:extLst>
          </p:cNvPr>
          <p:cNvSpPr txBox="1"/>
          <p:nvPr/>
        </p:nvSpPr>
        <p:spPr>
          <a:xfrm>
            <a:off x="1001563" y="3518083"/>
            <a:ext cx="6961632" cy="400110"/>
          </a:xfrm>
          <a:prstGeom prst="rect">
            <a:avLst/>
          </a:prstGeom>
          <a:noFill/>
        </p:spPr>
        <p:txBody>
          <a:bodyPr wrap="square" lIns="0" tIns="0" rIns="0" bIns="0" anchor="ctr">
            <a:spAutoFit/>
          </a:bodyPr>
          <a:lstStyle/>
          <a:p>
            <a:pPr algn="l"/>
            <a:r>
              <a:rPr sz="1300" b="1" i="0">
                <a:solidFill>
                  <a:srgbClr val="194147"/>
                </a:solidFill>
                <a:latin typeface="Segoe UI"/>
              </a:rPr>
              <a:t>One AI interface, swappable provider</a:t>
            </a:r>
          </a:p>
          <a:p>
            <a:pPr algn="l"/>
            <a:r>
              <a:rPr sz="1300" b="0" i="0">
                <a:solidFill>
                  <a:srgbClr val="0C2226"/>
                </a:solidFill>
                <a:latin typeface="Segoe UI"/>
              </a:rPr>
              <a:t>Claude (Anthropic)  ·  Azure AI Foundry fallback  ·  </a:t>
            </a:r>
            <a:r>
              <a:rPr sz="1300" b="0" i="0" err="1">
                <a:solidFill>
                  <a:srgbClr val="0C2226"/>
                </a:solidFill>
                <a:latin typeface="Segoe UI"/>
              </a:rPr>
              <a:t>LangGraph</a:t>
            </a:r>
            <a:r>
              <a:rPr sz="1300" b="0" i="0">
                <a:solidFill>
                  <a:srgbClr val="0C2226"/>
                </a:solidFill>
                <a:latin typeface="Segoe UI"/>
              </a:rPr>
              <a:t> engine under evaluation</a:t>
            </a:r>
          </a:p>
        </p:txBody>
      </p:sp>
      <p:sp>
        <p:nvSpPr>
          <p:cNvPr id="94" name="Rounded Rectangle 30">
            <a:extLst>
              <a:ext uri="{FF2B5EF4-FFF2-40B4-BE49-F238E27FC236}">
                <a16:creationId xmlns:a16="http://schemas.microsoft.com/office/drawing/2014/main" id="{573BC508-F370-718D-A499-AF0069629397}"/>
              </a:ext>
            </a:extLst>
          </p:cNvPr>
          <p:cNvSpPr/>
          <p:nvPr/>
        </p:nvSpPr>
        <p:spPr>
          <a:xfrm>
            <a:off x="740959" y="4422226"/>
            <a:ext cx="3639312" cy="178308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a:extLst>
              <a:ext uri="{FF2B5EF4-FFF2-40B4-BE49-F238E27FC236}">
                <a16:creationId xmlns:a16="http://schemas.microsoft.com/office/drawing/2014/main" id="{5C574AC4-6FAC-609E-414C-023B5AF3FEA6}"/>
              </a:ext>
            </a:extLst>
          </p:cNvPr>
          <p:cNvSpPr txBox="1"/>
          <p:nvPr/>
        </p:nvSpPr>
        <p:spPr>
          <a:xfrm>
            <a:off x="896407" y="4352487"/>
            <a:ext cx="3291840" cy="1645920"/>
          </a:xfrm>
          <a:prstGeom prst="rect">
            <a:avLst/>
          </a:prstGeom>
          <a:noFill/>
        </p:spPr>
        <p:txBody>
          <a:bodyPr wrap="square" lIns="0" tIns="0" rIns="0" bIns="0" anchor="t">
            <a:spAutoFit/>
          </a:bodyPr>
          <a:lstStyle/>
          <a:p>
            <a:pPr algn="l">
              <a:spcAft>
                <a:spcPts val="300"/>
              </a:spcAft>
            </a:pPr>
            <a:r>
              <a:rPr sz="1500" b="1" i="0">
                <a:solidFill>
                  <a:srgbClr val="194147"/>
                </a:solidFill>
                <a:latin typeface="Segoe UI"/>
              </a:rPr>
              <a:t>PostgreSQL</a:t>
            </a:r>
          </a:p>
          <a:p>
            <a:pPr algn="l">
              <a:spcAft>
                <a:spcPts val="300"/>
              </a:spcAft>
            </a:pPr>
            <a:r>
              <a:rPr sz="1200" b="0" i="0">
                <a:solidFill>
                  <a:srgbClr val="0C2226"/>
                </a:solidFill>
                <a:latin typeface="Segoe UI"/>
              </a:rPr>
              <a:t>Stored functions write every change with an audit event</a:t>
            </a:r>
          </a:p>
          <a:p>
            <a:pPr algn="l">
              <a:spcAft>
                <a:spcPts val="300"/>
              </a:spcAft>
            </a:pPr>
            <a:r>
              <a:rPr sz="1200" b="0" i="0">
                <a:solidFill>
                  <a:srgbClr val="0C2226"/>
                </a:solidFill>
                <a:latin typeface="Segoe UI"/>
              </a:rPr>
              <a:t>Append-only audit table: trigger blocks UPDATE and DELETE</a:t>
            </a:r>
          </a:p>
          <a:p>
            <a:pPr algn="l">
              <a:spcAft>
                <a:spcPts val="300"/>
              </a:spcAft>
            </a:pPr>
            <a:r>
              <a:rPr sz="1200" b="0" i="0">
                <a:solidFill>
                  <a:srgbClr val="0C2226"/>
                </a:solidFill>
                <a:latin typeface="Segoe UI"/>
              </a:rPr>
              <a:t>Local FFIEC policy corpus, full-text indexed</a:t>
            </a:r>
          </a:p>
        </p:txBody>
      </p:sp>
      <p:sp>
        <p:nvSpPr>
          <p:cNvPr id="98" name="Rounded Rectangle 32">
            <a:extLst>
              <a:ext uri="{FF2B5EF4-FFF2-40B4-BE49-F238E27FC236}">
                <a16:creationId xmlns:a16="http://schemas.microsoft.com/office/drawing/2014/main" id="{7F781DB3-0554-8118-15B5-A948C0CF63CB}"/>
              </a:ext>
            </a:extLst>
          </p:cNvPr>
          <p:cNvSpPr/>
          <p:nvPr/>
        </p:nvSpPr>
        <p:spPr>
          <a:xfrm>
            <a:off x="4526575" y="4261047"/>
            <a:ext cx="3639312" cy="178308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Box 99">
            <a:extLst>
              <a:ext uri="{FF2B5EF4-FFF2-40B4-BE49-F238E27FC236}">
                <a16:creationId xmlns:a16="http://schemas.microsoft.com/office/drawing/2014/main" id="{C0C593A2-73D5-9F1A-9606-4AC48B1F869F}"/>
              </a:ext>
            </a:extLst>
          </p:cNvPr>
          <p:cNvSpPr txBox="1"/>
          <p:nvPr/>
        </p:nvSpPr>
        <p:spPr>
          <a:xfrm>
            <a:off x="4736887" y="4513666"/>
            <a:ext cx="3291840" cy="1645920"/>
          </a:xfrm>
          <a:prstGeom prst="rect">
            <a:avLst/>
          </a:prstGeom>
          <a:noFill/>
        </p:spPr>
        <p:txBody>
          <a:bodyPr wrap="square" lIns="0" tIns="0" rIns="0" bIns="0" anchor="t">
            <a:spAutoFit/>
          </a:bodyPr>
          <a:lstStyle/>
          <a:p>
            <a:pPr algn="l">
              <a:spcAft>
                <a:spcPts val="300"/>
              </a:spcAft>
            </a:pPr>
            <a:r>
              <a:rPr sz="1500" b="1" i="0">
                <a:solidFill>
                  <a:srgbClr val="194147"/>
                </a:solidFill>
                <a:latin typeface="Segoe UI"/>
              </a:rPr>
              <a:t>Mock bank systems (separate API)</a:t>
            </a:r>
          </a:p>
          <a:p>
            <a:pPr algn="l">
              <a:spcAft>
                <a:spcPts val="300"/>
              </a:spcAft>
            </a:pPr>
            <a:r>
              <a:rPr sz="1200" b="0" i="0">
                <a:solidFill>
                  <a:srgbClr val="0C2226"/>
                </a:solidFill>
                <a:latin typeface="Segoe UI"/>
              </a:rPr>
              <a:t>Synthetic CRM, core banking and vendor data</a:t>
            </a:r>
          </a:p>
          <a:p>
            <a:pPr algn="l">
              <a:spcAft>
                <a:spcPts val="300"/>
              </a:spcAft>
            </a:pPr>
            <a:r>
              <a:rPr sz="1200" b="0" i="0">
                <a:solidFill>
                  <a:srgbClr val="0C2226"/>
                </a:solidFill>
                <a:latin typeface="Segoe UI"/>
              </a:rPr>
              <a:t>Snapshot taken at intake through Data Ingestion</a:t>
            </a:r>
          </a:p>
          <a:p>
            <a:pPr algn="l">
              <a:spcAft>
                <a:spcPts val="300"/>
              </a:spcAft>
            </a:pPr>
            <a:r>
              <a:rPr sz="1200" b="0" i="0">
                <a:solidFill>
                  <a:srgbClr val="0C2226"/>
                </a:solidFill>
                <a:latin typeface="Segoe UI"/>
              </a:rPr>
              <a:t>Committee decision pushed back, with no AI call</a:t>
            </a:r>
          </a:p>
        </p:txBody>
      </p:sp>
      <p:sp>
        <p:nvSpPr>
          <p:cNvPr id="102" name="Rounded Rectangle 34">
            <a:extLst>
              <a:ext uri="{FF2B5EF4-FFF2-40B4-BE49-F238E27FC236}">
                <a16:creationId xmlns:a16="http://schemas.microsoft.com/office/drawing/2014/main" id="{76B5AE43-38A2-56B7-A9D9-7F901697D5E6}"/>
              </a:ext>
            </a:extLst>
          </p:cNvPr>
          <p:cNvSpPr/>
          <p:nvPr/>
        </p:nvSpPr>
        <p:spPr>
          <a:xfrm>
            <a:off x="8449350" y="1633306"/>
            <a:ext cx="3529584" cy="4572000"/>
          </a:xfrm>
          <a:prstGeom prst="roundRect">
            <a:avLst>
              <a:gd name="adj" fmla="val 8000"/>
            </a:avLst>
          </a:prstGeom>
          <a:solidFill>
            <a:srgbClr val="0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Box 103">
            <a:extLst>
              <a:ext uri="{FF2B5EF4-FFF2-40B4-BE49-F238E27FC236}">
                <a16:creationId xmlns:a16="http://schemas.microsoft.com/office/drawing/2014/main" id="{26B39971-AD05-9A49-0396-7D85CA8ABFBA}"/>
              </a:ext>
            </a:extLst>
          </p:cNvPr>
          <p:cNvSpPr txBox="1"/>
          <p:nvPr/>
        </p:nvSpPr>
        <p:spPr>
          <a:xfrm>
            <a:off x="8650519" y="1770466"/>
            <a:ext cx="3154680" cy="365760"/>
          </a:xfrm>
          <a:prstGeom prst="rect">
            <a:avLst/>
          </a:prstGeom>
          <a:noFill/>
        </p:spPr>
        <p:txBody>
          <a:bodyPr wrap="square" lIns="0" tIns="0" rIns="0" bIns="0" anchor="t">
            <a:spAutoFit/>
          </a:bodyPr>
          <a:lstStyle/>
          <a:p>
            <a:pPr algn="l"/>
            <a:r>
              <a:rPr sz="1200" b="1" i="0">
                <a:solidFill>
                  <a:srgbClr val="51E081"/>
                </a:solidFill>
                <a:latin typeface="Segoe UI"/>
              </a:rPr>
              <a:t>CONTEXT MANAGEMENT</a:t>
            </a:r>
          </a:p>
        </p:txBody>
      </p:sp>
      <p:sp>
        <p:nvSpPr>
          <p:cNvPr id="106" name="TextBox 105">
            <a:extLst>
              <a:ext uri="{FF2B5EF4-FFF2-40B4-BE49-F238E27FC236}">
                <a16:creationId xmlns:a16="http://schemas.microsoft.com/office/drawing/2014/main" id="{518861B4-0BF2-AAA2-574B-0A2023460035}"/>
              </a:ext>
            </a:extLst>
          </p:cNvPr>
          <p:cNvSpPr txBox="1"/>
          <p:nvPr/>
        </p:nvSpPr>
        <p:spPr>
          <a:xfrm>
            <a:off x="8650519" y="2181945"/>
            <a:ext cx="3154680" cy="274320"/>
          </a:xfrm>
          <a:prstGeom prst="rect">
            <a:avLst/>
          </a:prstGeom>
          <a:noFill/>
        </p:spPr>
        <p:txBody>
          <a:bodyPr wrap="square" lIns="0" tIns="0" rIns="0" bIns="0" anchor="t">
            <a:spAutoFit/>
          </a:bodyPr>
          <a:lstStyle/>
          <a:p>
            <a:pPr algn="l"/>
            <a:r>
              <a:rPr sz="1300" b="1" i="0">
                <a:solidFill>
                  <a:srgbClr val="FFFFFF"/>
                </a:solidFill>
                <a:latin typeface="Segoe UI"/>
              </a:rPr>
              <a:t>Grounded inputs</a:t>
            </a:r>
          </a:p>
        </p:txBody>
      </p:sp>
      <p:sp>
        <p:nvSpPr>
          <p:cNvPr id="108" name="TextBox 107">
            <a:extLst>
              <a:ext uri="{FF2B5EF4-FFF2-40B4-BE49-F238E27FC236}">
                <a16:creationId xmlns:a16="http://schemas.microsoft.com/office/drawing/2014/main" id="{C708DD68-B0AB-5397-4596-2D9AD6BDF68D}"/>
              </a:ext>
            </a:extLst>
          </p:cNvPr>
          <p:cNvSpPr txBox="1"/>
          <p:nvPr/>
        </p:nvSpPr>
        <p:spPr>
          <a:xfrm>
            <a:off x="8650519" y="2456265"/>
            <a:ext cx="3154680" cy="502920"/>
          </a:xfrm>
          <a:prstGeom prst="rect">
            <a:avLst/>
          </a:prstGeom>
          <a:noFill/>
        </p:spPr>
        <p:txBody>
          <a:bodyPr wrap="square" lIns="0" tIns="0" rIns="0" bIns="0" anchor="t">
            <a:spAutoFit/>
          </a:bodyPr>
          <a:lstStyle/>
          <a:p>
            <a:pPr algn="l"/>
            <a:r>
              <a:rPr sz="1100" b="0" i="0">
                <a:solidFill>
                  <a:srgbClr val="CBEBBD"/>
                </a:solidFill>
                <a:latin typeface="Segoe UI"/>
              </a:rPr>
              <a:t>Each call gets only the allowed FFIEC categories and retrieved policy text</a:t>
            </a:r>
          </a:p>
        </p:txBody>
      </p:sp>
      <p:sp>
        <p:nvSpPr>
          <p:cNvPr id="110" name="TextBox 109">
            <a:extLst>
              <a:ext uri="{FF2B5EF4-FFF2-40B4-BE49-F238E27FC236}">
                <a16:creationId xmlns:a16="http://schemas.microsoft.com/office/drawing/2014/main" id="{B609DA88-AE79-48AA-EE0B-6EDE109CC63B}"/>
              </a:ext>
            </a:extLst>
          </p:cNvPr>
          <p:cNvSpPr txBox="1"/>
          <p:nvPr/>
        </p:nvSpPr>
        <p:spPr>
          <a:xfrm>
            <a:off x="8650519" y="2968329"/>
            <a:ext cx="3154680" cy="274320"/>
          </a:xfrm>
          <a:prstGeom prst="rect">
            <a:avLst/>
          </a:prstGeom>
          <a:noFill/>
        </p:spPr>
        <p:txBody>
          <a:bodyPr wrap="square" lIns="0" tIns="0" rIns="0" bIns="0" anchor="t">
            <a:spAutoFit/>
          </a:bodyPr>
          <a:lstStyle/>
          <a:p>
            <a:pPr algn="l"/>
            <a:r>
              <a:rPr sz="1300" b="1" i="0">
                <a:solidFill>
                  <a:srgbClr val="FFFFFF"/>
                </a:solidFill>
                <a:latin typeface="Segoe UI"/>
              </a:rPr>
              <a:t>Guarded outputs</a:t>
            </a:r>
          </a:p>
        </p:txBody>
      </p:sp>
      <p:sp>
        <p:nvSpPr>
          <p:cNvPr id="112" name="TextBox 111">
            <a:extLst>
              <a:ext uri="{FF2B5EF4-FFF2-40B4-BE49-F238E27FC236}">
                <a16:creationId xmlns:a16="http://schemas.microsoft.com/office/drawing/2014/main" id="{3EE6B281-474A-0C75-8742-9CE0927EE8D4}"/>
              </a:ext>
            </a:extLst>
          </p:cNvPr>
          <p:cNvSpPr txBox="1"/>
          <p:nvPr/>
        </p:nvSpPr>
        <p:spPr>
          <a:xfrm>
            <a:off x="8650519" y="3242649"/>
            <a:ext cx="3154680" cy="502920"/>
          </a:xfrm>
          <a:prstGeom prst="rect">
            <a:avLst/>
          </a:prstGeom>
          <a:noFill/>
        </p:spPr>
        <p:txBody>
          <a:bodyPr wrap="square" lIns="0" tIns="0" rIns="0" bIns="0" anchor="t">
            <a:spAutoFit/>
          </a:bodyPr>
          <a:lstStyle/>
          <a:p>
            <a:pPr algn="l"/>
            <a:r>
              <a:rPr sz="1100" b="0" i="0">
                <a:solidFill>
                  <a:srgbClr val="CBEBBD"/>
                </a:solidFill>
                <a:latin typeface="Segoe UI"/>
              </a:rPr>
              <a:t>Category IDs outside the list are dropped; extraction must quote its source</a:t>
            </a:r>
          </a:p>
        </p:txBody>
      </p:sp>
      <p:sp>
        <p:nvSpPr>
          <p:cNvPr id="114" name="TextBox 113">
            <a:extLst>
              <a:ext uri="{FF2B5EF4-FFF2-40B4-BE49-F238E27FC236}">
                <a16:creationId xmlns:a16="http://schemas.microsoft.com/office/drawing/2014/main" id="{E0F2EB1A-A47C-6C17-4C37-75C7909876E4}"/>
              </a:ext>
            </a:extLst>
          </p:cNvPr>
          <p:cNvSpPr txBox="1"/>
          <p:nvPr/>
        </p:nvSpPr>
        <p:spPr>
          <a:xfrm>
            <a:off x="8650519" y="3754713"/>
            <a:ext cx="3154680" cy="274320"/>
          </a:xfrm>
          <a:prstGeom prst="rect">
            <a:avLst/>
          </a:prstGeom>
          <a:noFill/>
        </p:spPr>
        <p:txBody>
          <a:bodyPr wrap="square" lIns="0" tIns="0" rIns="0" bIns="0" anchor="t">
            <a:spAutoFit/>
          </a:bodyPr>
          <a:lstStyle/>
          <a:p>
            <a:pPr algn="l"/>
            <a:r>
              <a:rPr sz="1300" b="1" i="0">
                <a:solidFill>
                  <a:srgbClr val="FFFFFF"/>
                </a:solidFill>
                <a:latin typeface="Segoe UI"/>
              </a:rPr>
              <a:t>Honest gaps</a:t>
            </a:r>
          </a:p>
        </p:txBody>
      </p:sp>
      <p:sp>
        <p:nvSpPr>
          <p:cNvPr id="116" name="TextBox 115">
            <a:extLst>
              <a:ext uri="{FF2B5EF4-FFF2-40B4-BE49-F238E27FC236}">
                <a16:creationId xmlns:a16="http://schemas.microsoft.com/office/drawing/2014/main" id="{9A45A7B5-6AD3-3DD6-2DDD-3668C46257B8}"/>
              </a:ext>
            </a:extLst>
          </p:cNvPr>
          <p:cNvSpPr txBox="1"/>
          <p:nvPr/>
        </p:nvSpPr>
        <p:spPr>
          <a:xfrm>
            <a:off x="8650519" y="4029033"/>
            <a:ext cx="3154680" cy="502920"/>
          </a:xfrm>
          <a:prstGeom prst="rect">
            <a:avLst/>
          </a:prstGeom>
          <a:noFill/>
        </p:spPr>
        <p:txBody>
          <a:bodyPr wrap="square" lIns="0" tIns="0" rIns="0" bIns="0" anchor="t">
            <a:spAutoFit/>
          </a:bodyPr>
          <a:lstStyle/>
          <a:p>
            <a:pPr algn="l"/>
            <a:r>
              <a:rPr sz="1100" b="0" i="0">
                <a:solidFill>
                  <a:srgbClr val="CBEBBD"/>
                </a:solidFill>
                <a:latin typeface="Segoe UI"/>
              </a:rPr>
              <a:t>Unsupported narrative claims are returned separately, never blended in</a:t>
            </a:r>
          </a:p>
        </p:txBody>
      </p:sp>
      <p:sp>
        <p:nvSpPr>
          <p:cNvPr id="118" name="TextBox 117">
            <a:extLst>
              <a:ext uri="{FF2B5EF4-FFF2-40B4-BE49-F238E27FC236}">
                <a16:creationId xmlns:a16="http://schemas.microsoft.com/office/drawing/2014/main" id="{7F282BA1-D69E-CEE6-0A62-B7FF1935F9DE}"/>
              </a:ext>
            </a:extLst>
          </p:cNvPr>
          <p:cNvSpPr txBox="1"/>
          <p:nvPr/>
        </p:nvSpPr>
        <p:spPr>
          <a:xfrm>
            <a:off x="8650519" y="4541098"/>
            <a:ext cx="3154680" cy="274320"/>
          </a:xfrm>
          <a:prstGeom prst="rect">
            <a:avLst/>
          </a:prstGeom>
          <a:noFill/>
        </p:spPr>
        <p:txBody>
          <a:bodyPr wrap="square" lIns="0" tIns="0" rIns="0" bIns="0" anchor="t">
            <a:spAutoFit/>
          </a:bodyPr>
          <a:lstStyle/>
          <a:p>
            <a:pPr algn="l"/>
            <a:r>
              <a:rPr sz="1300" b="1" i="0">
                <a:solidFill>
                  <a:srgbClr val="FFFFFF"/>
                </a:solidFill>
                <a:latin typeface="Segoe UI"/>
              </a:rPr>
              <a:t>Versioned prompts</a:t>
            </a:r>
          </a:p>
        </p:txBody>
      </p:sp>
      <p:sp>
        <p:nvSpPr>
          <p:cNvPr id="120" name="TextBox 119">
            <a:extLst>
              <a:ext uri="{FF2B5EF4-FFF2-40B4-BE49-F238E27FC236}">
                <a16:creationId xmlns:a16="http://schemas.microsoft.com/office/drawing/2014/main" id="{1F7B022E-9F06-4D4A-28AF-D7EC9314BA04}"/>
              </a:ext>
            </a:extLst>
          </p:cNvPr>
          <p:cNvSpPr txBox="1"/>
          <p:nvPr/>
        </p:nvSpPr>
        <p:spPr>
          <a:xfrm>
            <a:off x="8650519" y="4815418"/>
            <a:ext cx="3154680" cy="502920"/>
          </a:xfrm>
          <a:prstGeom prst="rect">
            <a:avLst/>
          </a:prstGeom>
          <a:noFill/>
        </p:spPr>
        <p:txBody>
          <a:bodyPr wrap="square" lIns="0" tIns="0" rIns="0" bIns="0" anchor="t">
            <a:spAutoFit/>
          </a:bodyPr>
          <a:lstStyle/>
          <a:p>
            <a:pPr algn="l"/>
            <a:r>
              <a:rPr sz="1100" b="0" i="0">
                <a:solidFill>
                  <a:srgbClr val="CBEBBD"/>
                </a:solidFill>
                <a:latin typeface="Segoe UI"/>
              </a:rPr>
              <a:t>Prompts live in /ai/prompts, mirrored from code</a:t>
            </a:r>
          </a:p>
        </p:txBody>
      </p:sp>
      <p:sp>
        <p:nvSpPr>
          <p:cNvPr id="122" name="TextBox 121">
            <a:extLst>
              <a:ext uri="{FF2B5EF4-FFF2-40B4-BE49-F238E27FC236}">
                <a16:creationId xmlns:a16="http://schemas.microsoft.com/office/drawing/2014/main" id="{4A135678-030B-4FAD-2C37-457CC644B1E6}"/>
              </a:ext>
            </a:extLst>
          </p:cNvPr>
          <p:cNvSpPr txBox="1"/>
          <p:nvPr/>
        </p:nvSpPr>
        <p:spPr>
          <a:xfrm>
            <a:off x="8650519" y="5327482"/>
            <a:ext cx="3154680" cy="274320"/>
          </a:xfrm>
          <a:prstGeom prst="rect">
            <a:avLst/>
          </a:prstGeom>
          <a:noFill/>
        </p:spPr>
        <p:txBody>
          <a:bodyPr wrap="square" lIns="0" tIns="0" rIns="0" bIns="0" anchor="t">
            <a:spAutoFit/>
          </a:bodyPr>
          <a:lstStyle/>
          <a:p>
            <a:pPr algn="l"/>
            <a:r>
              <a:rPr sz="1300" b="1" i="0">
                <a:solidFill>
                  <a:srgbClr val="FFFFFF"/>
                </a:solidFill>
                <a:latin typeface="Segoe UI"/>
              </a:rPr>
              <a:t>Team context</a:t>
            </a:r>
          </a:p>
        </p:txBody>
      </p:sp>
      <p:sp>
        <p:nvSpPr>
          <p:cNvPr id="124" name="TextBox 123">
            <a:extLst>
              <a:ext uri="{FF2B5EF4-FFF2-40B4-BE49-F238E27FC236}">
                <a16:creationId xmlns:a16="http://schemas.microsoft.com/office/drawing/2014/main" id="{19A71D88-9D7F-0471-7A5C-B71E75F12F90}"/>
              </a:ext>
            </a:extLst>
          </p:cNvPr>
          <p:cNvSpPr txBox="1"/>
          <p:nvPr/>
        </p:nvSpPr>
        <p:spPr>
          <a:xfrm>
            <a:off x="8650519" y="5601802"/>
            <a:ext cx="3154680" cy="502920"/>
          </a:xfrm>
          <a:prstGeom prst="rect">
            <a:avLst/>
          </a:prstGeom>
          <a:noFill/>
        </p:spPr>
        <p:txBody>
          <a:bodyPr wrap="square" lIns="0" tIns="0" rIns="0" bIns="0" anchor="t">
            <a:spAutoFit/>
          </a:bodyPr>
          <a:lstStyle/>
          <a:p>
            <a:pPr algn="l"/>
            <a:r>
              <a:rPr sz="1100" b="0" i="0">
                <a:solidFill>
                  <a:srgbClr val="CBEBBD"/>
                </a:solidFill>
                <a:latin typeface="Segoe UI"/>
              </a:rPr>
              <a:t>CLAUDE.md and user-stories.md keep every Claude Code session on spec</a:t>
            </a:r>
          </a:p>
        </p:txBody>
      </p:sp>
      <p:sp>
        <p:nvSpPr>
          <p:cNvPr id="126" name="TextBox 125">
            <a:extLst>
              <a:ext uri="{FF2B5EF4-FFF2-40B4-BE49-F238E27FC236}">
                <a16:creationId xmlns:a16="http://schemas.microsoft.com/office/drawing/2014/main" id="{22ADAD9A-3540-A448-2D45-F261FEB07988}"/>
              </a:ext>
            </a:extLst>
          </p:cNvPr>
          <p:cNvSpPr txBox="1"/>
          <p:nvPr/>
        </p:nvSpPr>
        <p:spPr>
          <a:xfrm>
            <a:off x="707089" y="1660365"/>
            <a:ext cx="0" cy="0"/>
          </a:xfrm>
          <a:prstGeom prst="rect">
            <a:avLst/>
          </a:prstGeom>
          <a:noFill/>
        </p:spPr>
        <p:txBody>
          <a:bodyPr wrap="none" rtlCol="0">
            <a:noAutofit/>
          </a:bodyPr>
          <a:lstStyle/>
          <a:p>
            <a:pPr algn="l"/>
            <a:endParaRPr lang="en-US">
              <a:latin typeface="Segoe UI" panose="020B0502040204020203" pitchFamily="34" charset="0"/>
              <a:cs typeface="Segoe UI" panose="020B050204020402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STAGE 3 · DEVELOPMENT HARNESS</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a:lnSpc>
                <a:spcPts val="3080"/>
              </a:lnSpc>
            </a:pPr>
            <a:r>
              <a:rPr lang="en-US" sz="2800" b="1" i="0">
                <a:solidFill>
                  <a:srgbClr val="14262A"/>
                </a:solidFill>
                <a:latin typeface="IBM Plex Sans"/>
              </a:rPr>
              <a:t>Claude Code drafts, the harness checks, a </a:t>
            </a:r>
            <a:r>
              <a:rPr lang="en-US" b="1">
                <a:latin typeface="IBM Plex Sans"/>
              </a:rPr>
              <a:t>person decides</a:t>
            </a:r>
            <a:endParaRPr lang="en-US" sz="2800"/>
          </a:p>
        </p:txBody>
      </p:sp>
      <p:sp>
        <p:nvSpPr>
          <p:cNvPr id="55" name="Step 1">
            <a:extLst>
              <a:ext uri="{FF2B5EF4-FFF2-40B4-BE49-F238E27FC236}">
                <a16:creationId xmlns:a16="http://schemas.microsoft.com/office/drawing/2014/main" id="{FA082AFD-DE7F-8878-484D-01681F1EB93E}"/>
              </a:ext>
            </a:extLst>
          </p:cNvPr>
          <p:cNvSpPr/>
          <p:nvPr/>
        </p:nvSpPr>
        <p:spPr>
          <a:xfrm>
            <a:off x="613140" y="1866352"/>
            <a:ext cx="1572768" cy="457200"/>
          </a:xfrm>
          <a:prstGeom prst="roundRect">
            <a:avLst>
              <a:gd name="adj" fmla="val 50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C2226"/>
                </a:solidFill>
                <a:latin typeface="Segoe UI"/>
              </a:rPr>
              <a:t>Pick a story</a:t>
            </a:r>
          </a:p>
        </p:txBody>
      </p:sp>
      <p:sp>
        <p:nvSpPr>
          <p:cNvPr id="57" name="Step arrow 1">
            <a:extLst>
              <a:ext uri="{FF2B5EF4-FFF2-40B4-BE49-F238E27FC236}">
                <a16:creationId xmlns:a16="http://schemas.microsoft.com/office/drawing/2014/main" id="{F47FBF16-A195-4012-BCB1-711C8A12307E}"/>
              </a:ext>
            </a:extLst>
          </p:cNvPr>
          <p:cNvSpPr/>
          <p:nvPr/>
        </p:nvSpPr>
        <p:spPr>
          <a:xfrm>
            <a:off x="2272776"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Step 2">
            <a:extLst>
              <a:ext uri="{FF2B5EF4-FFF2-40B4-BE49-F238E27FC236}">
                <a16:creationId xmlns:a16="http://schemas.microsoft.com/office/drawing/2014/main" id="{CA572898-1193-9684-B7C4-FD0364968FD6}"/>
              </a:ext>
            </a:extLst>
          </p:cNvPr>
          <p:cNvSpPr/>
          <p:nvPr/>
        </p:nvSpPr>
        <p:spPr>
          <a:xfrm>
            <a:off x="2542524" y="1866352"/>
            <a:ext cx="1572768" cy="457200"/>
          </a:xfrm>
          <a:prstGeom prst="roundRect">
            <a:avLst>
              <a:gd name="adj" fmla="val 50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C2226"/>
                </a:solidFill>
                <a:latin typeface="Segoe UI"/>
              </a:rPr>
              <a:t>Draft with AI</a:t>
            </a:r>
          </a:p>
        </p:txBody>
      </p:sp>
      <p:sp>
        <p:nvSpPr>
          <p:cNvPr id="61" name="Step arrow 2">
            <a:extLst>
              <a:ext uri="{FF2B5EF4-FFF2-40B4-BE49-F238E27FC236}">
                <a16:creationId xmlns:a16="http://schemas.microsoft.com/office/drawing/2014/main" id="{F19E61F6-DB1F-FA85-26A7-E138DF5F0122}"/>
              </a:ext>
            </a:extLst>
          </p:cNvPr>
          <p:cNvSpPr/>
          <p:nvPr/>
        </p:nvSpPr>
        <p:spPr>
          <a:xfrm>
            <a:off x="4202159"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Step 3">
            <a:extLst>
              <a:ext uri="{FF2B5EF4-FFF2-40B4-BE49-F238E27FC236}">
                <a16:creationId xmlns:a16="http://schemas.microsoft.com/office/drawing/2014/main" id="{4546D7D4-1970-FB3C-4268-5CE717F3E45D}"/>
              </a:ext>
            </a:extLst>
          </p:cNvPr>
          <p:cNvSpPr/>
          <p:nvPr/>
        </p:nvSpPr>
        <p:spPr>
          <a:xfrm>
            <a:off x="4471908" y="1866352"/>
            <a:ext cx="1572768" cy="457200"/>
          </a:xfrm>
          <a:prstGeom prst="roundRect">
            <a:avLst>
              <a:gd name="adj" fmla="val 50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C2226"/>
                </a:solidFill>
                <a:latin typeface="Segoe UI"/>
              </a:rPr>
              <a:t>Review the diff</a:t>
            </a:r>
          </a:p>
        </p:txBody>
      </p:sp>
      <p:sp>
        <p:nvSpPr>
          <p:cNvPr id="65" name="Step arrow 3">
            <a:extLst>
              <a:ext uri="{FF2B5EF4-FFF2-40B4-BE49-F238E27FC236}">
                <a16:creationId xmlns:a16="http://schemas.microsoft.com/office/drawing/2014/main" id="{5428E2F0-DF61-52F2-8F45-F27B3B1B6B47}"/>
              </a:ext>
            </a:extLst>
          </p:cNvPr>
          <p:cNvSpPr/>
          <p:nvPr/>
        </p:nvSpPr>
        <p:spPr>
          <a:xfrm>
            <a:off x="6131544"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Step 4">
            <a:extLst>
              <a:ext uri="{FF2B5EF4-FFF2-40B4-BE49-F238E27FC236}">
                <a16:creationId xmlns:a16="http://schemas.microsoft.com/office/drawing/2014/main" id="{46EFA527-C2BA-70AF-5779-70C0E3D283A7}"/>
              </a:ext>
            </a:extLst>
          </p:cNvPr>
          <p:cNvSpPr/>
          <p:nvPr/>
        </p:nvSpPr>
        <p:spPr>
          <a:xfrm>
            <a:off x="6401292" y="1866352"/>
            <a:ext cx="1572768" cy="457200"/>
          </a:xfrm>
          <a:prstGeom prst="roundRect">
            <a:avLst>
              <a:gd name="adj" fmla="val 50000"/>
            </a:avLst>
          </a:prstGeom>
          <a:solidFill>
            <a:srgbClr val="09A78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Run the harness</a:t>
            </a:r>
          </a:p>
        </p:txBody>
      </p:sp>
      <p:sp>
        <p:nvSpPr>
          <p:cNvPr id="69" name="Step arrow 4">
            <a:extLst>
              <a:ext uri="{FF2B5EF4-FFF2-40B4-BE49-F238E27FC236}">
                <a16:creationId xmlns:a16="http://schemas.microsoft.com/office/drawing/2014/main" id="{B34BE26A-CAC8-0A4B-86AC-439315A7E009}"/>
              </a:ext>
            </a:extLst>
          </p:cNvPr>
          <p:cNvSpPr/>
          <p:nvPr/>
        </p:nvSpPr>
        <p:spPr>
          <a:xfrm>
            <a:off x="8060928"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Step 5">
            <a:extLst>
              <a:ext uri="{FF2B5EF4-FFF2-40B4-BE49-F238E27FC236}">
                <a16:creationId xmlns:a16="http://schemas.microsoft.com/office/drawing/2014/main" id="{376A930B-1CAE-4096-BA7D-9B56CBB20793}"/>
              </a:ext>
            </a:extLst>
          </p:cNvPr>
          <p:cNvSpPr/>
          <p:nvPr/>
        </p:nvSpPr>
        <p:spPr>
          <a:xfrm>
            <a:off x="8330675" y="1866352"/>
            <a:ext cx="1572768" cy="457200"/>
          </a:xfrm>
          <a:prstGeom prst="roundRect">
            <a:avLst>
              <a:gd name="adj" fmla="val 50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C2226"/>
                </a:solidFill>
                <a:latin typeface="Segoe UI"/>
              </a:rPr>
              <a:t>Commit, open PR</a:t>
            </a:r>
          </a:p>
        </p:txBody>
      </p:sp>
      <p:sp>
        <p:nvSpPr>
          <p:cNvPr id="73" name="Step arrow 5">
            <a:extLst>
              <a:ext uri="{FF2B5EF4-FFF2-40B4-BE49-F238E27FC236}">
                <a16:creationId xmlns:a16="http://schemas.microsoft.com/office/drawing/2014/main" id="{F84AFCA3-982D-EE45-0D79-7DE528AE194E}"/>
              </a:ext>
            </a:extLst>
          </p:cNvPr>
          <p:cNvSpPr/>
          <p:nvPr/>
        </p:nvSpPr>
        <p:spPr>
          <a:xfrm>
            <a:off x="9990312" y="1985224"/>
            <a:ext cx="182880" cy="219456"/>
          </a:xfrm>
          <a:prstGeom prst="rightArrow">
            <a:avLst/>
          </a:prstGeom>
          <a:solidFill>
            <a:srgbClr val="5F6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Step 6">
            <a:extLst>
              <a:ext uri="{FF2B5EF4-FFF2-40B4-BE49-F238E27FC236}">
                <a16:creationId xmlns:a16="http://schemas.microsoft.com/office/drawing/2014/main" id="{11560304-332F-3871-7FFF-47E17E371ED4}"/>
              </a:ext>
            </a:extLst>
          </p:cNvPr>
          <p:cNvSpPr/>
          <p:nvPr/>
        </p:nvSpPr>
        <p:spPr>
          <a:xfrm>
            <a:off x="10260059" y="1866352"/>
            <a:ext cx="1572768" cy="457200"/>
          </a:xfrm>
          <a:prstGeom prst="roundRect">
            <a:avLst>
              <a:gd name="adj" fmla="val 50000"/>
            </a:avLst>
          </a:prstGeom>
          <a:solidFill>
            <a:srgbClr val="0C22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Gates, then merge</a:t>
            </a:r>
          </a:p>
        </p:txBody>
      </p:sp>
      <p:sp>
        <p:nvSpPr>
          <p:cNvPr id="77" name="Card context">
            <a:extLst>
              <a:ext uri="{FF2B5EF4-FFF2-40B4-BE49-F238E27FC236}">
                <a16:creationId xmlns:a16="http://schemas.microsoft.com/office/drawing/2014/main" id="{1192281E-D4CC-07F5-18AA-FCB54B86C7EE}"/>
              </a:ext>
            </a:extLst>
          </p:cNvPr>
          <p:cNvSpPr/>
          <p:nvPr/>
        </p:nvSpPr>
        <p:spPr>
          <a:xfrm>
            <a:off x="613140" y="2570440"/>
            <a:ext cx="2377440" cy="251460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Card context heading">
            <a:extLst>
              <a:ext uri="{FF2B5EF4-FFF2-40B4-BE49-F238E27FC236}">
                <a16:creationId xmlns:a16="http://schemas.microsoft.com/office/drawing/2014/main" id="{DFE27A2E-B2BC-7634-DBE1-C204EB2C3677}"/>
              </a:ext>
            </a:extLst>
          </p:cNvPr>
          <p:cNvSpPr txBox="1"/>
          <p:nvPr/>
        </p:nvSpPr>
        <p:spPr>
          <a:xfrm>
            <a:off x="796020" y="2698456"/>
            <a:ext cx="2011680" cy="215444"/>
          </a:xfrm>
          <a:prstGeom prst="rect">
            <a:avLst/>
          </a:prstGeom>
          <a:noFill/>
        </p:spPr>
        <p:txBody>
          <a:bodyPr wrap="square" lIns="0" tIns="0" rIns="0" bIns="0" anchor="t">
            <a:spAutoFit/>
          </a:bodyPr>
          <a:lstStyle/>
          <a:p>
            <a:pPr algn="l">
              <a:spcAft>
                <a:spcPts val="0"/>
              </a:spcAft>
            </a:pPr>
            <a:r>
              <a:rPr sz="1400" b="1">
                <a:solidFill>
                  <a:srgbClr val="194147"/>
                </a:solidFill>
                <a:latin typeface="Segoe UI"/>
              </a:rPr>
              <a:t>Claude starts on spec</a:t>
            </a:r>
          </a:p>
        </p:txBody>
      </p:sp>
      <p:sp>
        <p:nvSpPr>
          <p:cNvPr id="81" name="Card context body">
            <a:extLst>
              <a:ext uri="{FF2B5EF4-FFF2-40B4-BE49-F238E27FC236}">
                <a16:creationId xmlns:a16="http://schemas.microsoft.com/office/drawing/2014/main" id="{BD404438-E1FD-BA39-3886-DA1F60AD7E72}"/>
              </a:ext>
            </a:extLst>
          </p:cNvPr>
          <p:cNvSpPr txBox="1"/>
          <p:nvPr/>
        </p:nvSpPr>
        <p:spPr>
          <a:xfrm>
            <a:off x="796020" y="3100792"/>
            <a:ext cx="2011680" cy="1585049"/>
          </a:xfrm>
          <a:prstGeom prst="rect">
            <a:avLst/>
          </a:prstGeom>
          <a:noFill/>
        </p:spPr>
        <p:txBody>
          <a:bodyPr wrap="square" lIns="0" tIns="0" rIns="0" bIns="0" anchor="t">
            <a:spAutoFit/>
          </a:bodyPr>
          <a:lstStyle/>
          <a:p>
            <a:pPr algn="l">
              <a:spcAft>
                <a:spcPts val="600"/>
              </a:spcAft>
            </a:pPr>
            <a:r>
              <a:rPr sz="1100" b="0">
                <a:solidFill>
                  <a:srgbClr val="0C2226"/>
                </a:solidFill>
                <a:latin typeface="Segoe UI"/>
              </a:rPr>
              <a:t>CLAUDE.md and the user stories load first</a:t>
            </a:r>
          </a:p>
          <a:p>
            <a:pPr algn="l">
              <a:spcAft>
                <a:spcPts val="600"/>
              </a:spcAft>
            </a:pPr>
            <a:r>
              <a:rPr sz="1100" b="0">
                <a:solidFill>
                  <a:srgbClr val="0C2226"/>
                </a:solidFill>
                <a:latin typeface="Segoe UI"/>
              </a:rPr>
              <a:t>Acceptance criteria come from the Azure Boards story</a:t>
            </a:r>
          </a:p>
          <a:p>
            <a:pPr algn="l">
              <a:spcAft>
                <a:spcPts val="600"/>
              </a:spcAft>
            </a:pPr>
            <a:r>
              <a:rPr sz="1100" b="0">
                <a:solidFill>
                  <a:srgbClr val="0C2226"/>
                </a:solidFill>
                <a:latin typeface="Segoe UI"/>
              </a:rPr>
              <a:t>Connectors reach the database schema and the backlog</a:t>
            </a:r>
          </a:p>
          <a:p>
            <a:pPr algn="l">
              <a:spcAft>
                <a:spcPts val="600"/>
              </a:spcAft>
            </a:pPr>
            <a:r>
              <a:rPr sz="1100" b="0">
                <a:solidFill>
                  <a:srgbClr val="0C2226"/>
                </a:solidFill>
                <a:latin typeface="Segoe UI"/>
              </a:rPr>
              <a:t>Prompts and rules are files in /ai and /harness</a:t>
            </a:r>
          </a:p>
        </p:txBody>
      </p:sp>
      <p:sp>
        <p:nvSpPr>
          <p:cNvPr id="83" name="Card checks">
            <a:extLst>
              <a:ext uri="{FF2B5EF4-FFF2-40B4-BE49-F238E27FC236}">
                <a16:creationId xmlns:a16="http://schemas.microsoft.com/office/drawing/2014/main" id="{5BAA72A1-BD49-2D5D-C86F-0376041020D7}"/>
              </a:ext>
            </a:extLst>
          </p:cNvPr>
          <p:cNvSpPr/>
          <p:nvPr/>
        </p:nvSpPr>
        <p:spPr>
          <a:xfrm>
            <a:off x="3173460" y="2570440"/>
            <a:ext cx="3200400" cy="251460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Card checks heading">
            <a:extLst>
              <a:ext uri="{FF2B5EF4-FFF2-40B4-BE49-F238E27FC236}">
                <a16:creationId xmlns:a16="http://schemas.microsoft.com/office/drawing/2014/main" id="{7B6079C8-EA94-01DD-5BE4-4C6490D23418}"/>
              </a:ext>
            </a:extLst>
          </p:cNvPr>
          <p:cNvSpPr txBox="1"/>
          <p:nvPr/>
        </p:nvSpPr>
        <p:spPr>
          <a:xfrm>
            <a:off x="3356340" y="2698456"/>
            <a:ext cx="2834640" cy="215444"/>
          </a:xfrm>
          <a:prstGeom prst="rect">
            <a:avLst/>
          </a:prstGeom>
          <a:noFill/>
        </p:spPr>
        <p:txBody>
          <a:bodyPr wrap="square" lIns="0" tIns="0" rIns="0" bIns="0" anchor="t">
            <a:spAutoFit/>
          </a:bodyPr>
          <a:lstStyle/>
          <a:p>
            <a:pPr algn="l">
              <a:spcAft>
                <a:spcPts val="0"/>
              </a:spcAft>
            </a:pPr>
            <a:r>
              <a:rPr sz="1400" b="1">
                <a:solidFill>
                  <a:srgbClr val="194147"/>
                </a:solidFill>
                <a:latin typeface="Segoe UI"/>
              </a:rPr>
              <a:t>What the harness checks</a:t>
            </a:r>
          </a:p>
        </p:txBody>
      </p:sp>
      <p:sp>
        <p:nvSpPr>
          <p:cNvPr id="87" name="Card checks body">
            <a:extLst>
              <a:ext uri="{FF2B5EF4-FFF2-40B4-BE49-F238E27FC236}">
                <a16:creationId xmlns:a16="http://schemas.microsoft.com/office/drawing/2014/main" id="{E4F803A2-C03A-6265-DDF1-F7A52A38B2A8}"/>
              </a:ext>
            </a:extLst>
          </p:cNvPr>
          <p:cNvSpPr txBox="1"/>
          <p:nvPr/>
        </p:nvSpPr>
        <p:spPr>
          <a:xfrm>
            <a:off x="3356340" y="3100792"/>
            <a:ext cx="2834640" cy="1923604"/>
          </a:xfrm>
          <a:prstGeom prst="rect">
            <a:avLst/>
          </a:prstGeom>
          <a:noFill/>
        </p:spPr>
        <p:txBody>
          <a:bodyPr wrap="square" lIns="0" tIns="0" rIns="0" bIns="0" anchor="t">
            <a:spAutoFit/>
          </a:bodyPr>
          <a:lstStyle/>
          <a:p>
            <a:pPr algn="l">
              <a:spcAft>
                <a:spcPts val="600"/>
              </a:spcAft>
            </a:pPr>
            <a:r>
              <a:rPr sz="1100" b="1">
                <a:solidFill>
                  <a:srgbClr val="194147"/>
                </a:solidFill>
                <a:latin typeface="Segoe UI"/>
              </a:rPr>
              <a:t>Architecture: </a:t>
            </a:r>
            <a:r>
              <a:rPr sz="1100" b="0">
                <a:solidFill>
                  <a:srgbClr val="0C2226"/>
                </a:solidFill>
                <a:latin typeface="Segoe UI"/>
              </a:rPr>
              <a:t>code stays in its layer</a:t>
            </a:r>
          </a:p>
          <a:p>
            <a:pPr algn="l">
              <a:spcAft>
                <a:spcPts val="600"/>
              </a:spcAft>
            </a:pPr>
            <a:r>
              <a:rPr sz="1100" b="1">
                <a:solidFill>
                  <a:srgbClr val="194147"/>
                </a:solidFill>
                <a:latin typeface="Segoe UI"/>
              </a:rPr>
              <a:t>Audit: </a:t>
            </a:r>
            <a:r>
              <a:rPr sz="1100" b="0">
                <a:solidFill>
                  <a:srgbClr val="0C2226"/>
                </a:solidFill>
                <a:latin typeface="Segoe UI"/>
              </a:rPr>
              <a:t>overrides record a reason</a:t>
            </a:r>
          </a:p>
          <a:p>
            <a:pPr algn="l">
              <a:spcAft>
                <a:spcPts val="600"/>
              </a:spcAft>
            </a:pPr>
            <a:r>
              <a:rPr sz="1100" b="1">
                <a:solidFill>
                  <a:srgbClr val="194147"/>
                </a:solidFill>
                <a:latin typeface="Segoe UI"/>
              </a:rPr>
              <a:t>Citations: </a:t>
            </a:r>
            <a:r>
              <a:rPr sz="1100" b="0">
                <a:solidFill>
                  <a:srgbClr val="0C2226"/>
                </a:solidFill>
                <a:latin typeface="Segoe UI"/>
              </a:rPr>
              <a:t>AI output traces to a source</a:t>
            </a:r>
          </a:p>
          <a:p>
            <a:pPr>
              <a:spcAft>
                <a:spcPts val="600"/>
              </a:spcAft>
            </a:pPr>
            <a:r>
              <a:rPr sz="1100" b="1">
                <a:solidFill>
                  <a:srgbClr val="194147"/>
                </a:solidFill>
                <a:latin typeface="Segoe UI"/>
              </a:rPr>
              <a:t>Rules over AI: </a:t>
            </a:r>
            <a:r>
              <a:rPr lang="en-US" sz="1100">
                <a:solidFill>
                  <a:srgbClr val="0C2226"/>
                </a:solidFill>
                <a:latin typeface="Segoe UI"/>
              </a:rPr>
              <a:t>flags AI calls where a fixed rule would do</a:t>
            </a:r>
            <a:br>
              <a:rPr lang="en-US" sz="1100">
                <a:solidFill>
                  <a:srgbClr val="0C2226"/>
                </a:solidFill>
                <a:latin typeface="Segoe UI"/>
              </a:rPr>
            </a:br>
            <a:br>
              <a:rPr lang="en-US" sz="1100">
                <a:solidFill>
                  <a:srgbClr val="0C2226"/>
                </a:solidFill>
                <a:latin typeface="Segoe UI"/>
              </a:rPr>
            </a:br>
            <a:r>
              <a:rPr sz="1100" b="1">
                <a:solidFill>
                  <a:srgbClr val="194147"/>
                </a:solidFill>
                <a:latin typeface="Segoe UI"/>
              </a:rPr>
              <a:t>Async and config: </a:t>
            </a:r>
            <a:r>
              <a:rPr lang="en-US" sz="1100">
                <a:solidFill>
                  <a:srgbClr val="0C2226"/>
                </a:solidFill>
                <a:latin typeface="Segoe UI"/>
              </a:rPr>
              <a:t>no blocking calls; missing settings fail loudly</a:t>
            </a:r>
            <a:br>
              <a:rPr lang="en-US" sz="1100">
                <a:solidFill>
                  <a:srgbClr val="0C2226"/>
                </a:solidFill>
                <a:latin typeface="Segoe UI"/>
              </a:rPr>
            </a:br>
            <a:br>
              <a:rPr lang="en-US" sz="1100">
                <a:solidFill>
                  <a:srgbClr val="0C2226"/>
                </a:solidFill>
                <a:latin typeface="Segoe UI"/>
              </a:rPr>
            </a:br>
            <a:r>
              <a:rPr lang="en-US" sz="1100" b="1">
                <a:solidFill>
                  <a:srgbClr val="194147"/>
                </a:solidFill>
                <a:latin typeface="Segoe UI"/>
              </a:rPr>
              <a:t>Standards: </a:t>
            </a:r>
            <a:r>
              <a:rPr lang="en-US" sz="1100" b="0">
                <a:solidFill>
                  <a:srgbClr val="0C2226"/>
                </a:solidFill>
                <a:latin typeface="Segoe UI"/>
              </a:rPr>
              <a:t>naming and comments</a:t>
            </a:r>
          </a:p>
        </p:txBody>
      </p:sp>
      <p:sp>
        <p:nvSpPr>
          <p:cNvPr id="89" name="Card how">
            <a:extLst>
              <a:ext uri="{FF2B5EF4-FFF2-40B4-BE49-F238E27FC236}">
                <a16:creationId xmlns:a16="http://schemas.microsoft.com/office/drawing/2014/main" id="{C9E4DE36-C9F8-5460-157F-54073DE383CB}"/>
              </a:ext>
            </a:extLst>
          </p:cNvPr>
          <p:cNvSpPr/>
          <p:nvPr/>
        </p:nvSpPr>
        <p:spPr>
          <a:xfrm>
            <a:off x="6556740" y="2570440"/>
            <a:ext cx="2377440" cy="2514600"/>
          </a:xfrm>
          <a:prstGeom prst="roundRect">
            <a:avLst>
              <a:gd name="adj" fmla="val 8000"/>
            </a:avLst>
          </a:prstGeom>
          <a:solidFill>
            <a:srgbClr val="F6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Card how heading">
            <a:extLst>
              <a:ext uri="{FF2B5EF4-FFF2-40B4-BE49-F238E27FC236}">
                <a16:creationId xmlns:a16="http://schemas.microsoft.com/office/drawing/2014/main" id="{EB7FD053-92CE-E291-F541-ACB127A35766}"/>
              </a:ext>
            </a:extLst>
          </p:cNvPr>
          <p:cNvSpPr txBox="1"/>
          <p:nvPr/>
        </p:nvSpPr>
        <p:spPr>
          <a:xfrm>
            <a:off x="6739620" y="2698456"/>
            <a:ext cx="2011680" cy="215444"/>
          </a:xfrm>
          <a:prstGeom prst="rect">
            <a:avLst/>
          </a:prstGeom>
          <a:noFill/>
        </p:spPr>
        <p:txBody>
          <a:bodyPr wrap="square" lIns="0" tIns="0" rIns="0" bIns="0" anchor="t">
            <a:spAutoFit/>
          </a:bodyPr>
          <a:lstStyle/>
          <a:p>
            <a:pPr algn="l">
              <a:spcAft>
                <a:spcPts val="0"/>
              </a:spcAft>
            </a:pPr>
            <a:r>
              <a:rPr sz="1400" b="1">
                <a:solidFill>
                  <a:srgbClr val="194147"/>
                </a:solidFill>
                <a:latin typeface="Segoe UI"/>
              </a:rPr>
              <a:t>How the checks work</a:t>
            </a:r>
          </a:p>
        </p:txBody>
      </p:sp>
      <p:sp>
        <p:nvSpPr>
          <p:cNvPr id="93" name="Card how body">
            <a:extLst>
              <a:ext uri="{FF2B5EF4-FFF2-40B4-BE49-F238E27FC236}">
                <a16:creationId xmlns:a16="http://schemas.microsoft.com/office/drawing/2014/main" id="{F7957870-659F-5A9D-37F6-0D536CDBC9B4}"/>
              </a:ext>
            </a:extLst>
          </p:cNvPr>
          <p:cNvSpPr txBox="1"/>
          <p:nvPr/>
        </p:nvSpPr>
        <p:spPr>
          <a:xfrm>
            <a:off x="6739620" y="3100792"/>
            <a:ext cx="2011680" cy="1105431"/>
          </a:xfrm>
          <a:prstGeom prst="rect">
            <a:avLst/>
          </a:prstGeom>
          <a:noFill/>
        </p:spPr>
        <p:txBody>
          <a:bodyPr wrap="square" lIns="0" tIns="0" rIns="0" bIns="0" anchor="t">
            <a:spAutoFit/>
          </a:bodyPr>
          <a:lstStyle/>
          <a:p>
            <a:pPr>
              <a:spcAft>
                <a:spcPts val="100"/>
              </a:spcAft>
            </a:pPr>
            <a:r>
              <a:rPr lang="en-US" sz="1100" dirty="0">
                <a:solidFill>
                  <a:srgbClr val="0C2226"/>
                </a:solidFill>
                <a:latin typeface="Segoe UI"/>
              </a:rPr>
              <a:t>Harness check runs</a:t>
            </a:r>
            <a:r>
              <a:rPr sz="1100" b="0" dirty="0">
                <a:solidFill>
                  <a:srgbClr val="0C2226"/>
                </a:solidFill>
                <a:latin typeface="Segoe UI"/>
              </a:rPr>
              <a:t> before every </a:t>
            </a:r>
            <a:r>
              <a:rPr sz="1100" b="0">
                <a:solidFill>
                  <a:srgbClr val="0C2226"/>
                </a:solidFill>
                <a:latin typeface="Segoe UI"/>
              </a:rPr>
              <a:t>commit</a:t>
            </a:r>
          </a:p>
          <a:p>
            <a:pPr algn="l">
              <a:spcAft>
                <a:spcPts val="600"/>
              </a:spcAft>
            </a:pPr>
            <a:r>
              <a:rPr sz="1100" b="0">
                <a:solidFill>
                  <a:srgbClr val="0C2226"/>
                </a:solidFill>
                <a:latin typeface="Segoe UI"/>
              </a:rPr>
              <a:t>Each check reviews only the changed code, against one rule</a:t>
            </a:r>
          </a:p>
          <a:p>
            <a:pPr algn="l">
              <a:spcAft>
                <a:spcPts val="600"/>
              </a:spcAft>
            </a:pPr>
            <a:r>
              <a:rPr sz="1100" b="0" dirty="0">
                <a:solidFill>
                  <a:srgbClr val="0C2226"/>
                </a:solidFill>
                <a:latin typeface="Segoe UI"/>
              </a:rPr>
              <a:t>Rules are prompt files: tune one without code </a:t>
            </a:r>
            <a:r>
              <a:rPr lang="en-US" sz="1100">
                <a:solidFill>
                  <a:srgbClr val="0C2226"/>
                </a:solidFill>
                <a:latin typeface="Segoe UI"/>
              </a:rPr>
              <a:t>changes</a:t>
            </a:r>
            <a:endParaRPr sz="1100" b="0">
              <a:solidFill>
                <a:srgbClr val="0C2226"/>
              </a:solidFill>
              <a:latin typeface="Segoe UI"/>
            </a:endParaRPr>
          </a:p>
        </p:txBody>
      </p:sp>
      <p:sp>
        <p:nvSpPr>
          <p:cNvPr id="95" name="Card human">
            <a:extLst>
              <a:ext uri="{FF2B5EF4-FFF2-40B4-BE49-F238E27FC236}">
                <a16:creationId xmlns:a16="http://schemas.microsoft.com/office/drawing/2014/main" id="{B7C4E7C9-7604-94B3-F663-1654B4B9899C}"/>
              </a:ext>
            </a:extLst>
          </p:cNvPr>
          <p:cNvSpPr/>
          <p:nvPr/>
        </p:nvSpPr>
        <p:spPr>
          <a:xfrm>
            <a:off x="9117060" y="2570440"/>
            <a:ext cx="2734056" cy="3337560"/>
          </a:xfrm>
          <a:prstGeom prst="roundRect">
            <a:avLst>
              <a:gd name="adj" fmla="val 8000"/>
            </a:avLst>
          </a:prstGeom>
          <a:solidFill>
            <a:srgbClr val="0C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Card human heading">
            <a:extLst>
              <a:ext uri="{FF2B5EF4-FFF2-40B4-BE49-F238E27FC236}">
                <a16:creationId xmlns:a16="http://schemas.microsoft.com/office/drawing/2014/main" id="{45461117-5714-9F2A-E319-D183AAE80A6C}"/>
              </a:ext>
            </a:extLst>
          </p:cNvPr>
          <p:cNvSpPr txBox="1"/>
          <p:nvPr/>
        </p:nvSpPr>
        <p:spPr>
          <a:xfrm>
            <a:off x="9299940" y="2698456"/>
            <a:ext cx="2377440" cy="184666"/>
          </a:xfrm>
          <a:prstGeom prst="rect">
            <a:avLst/>
          </a:prstGeom>
          <a:noFill/>
        </p:spPr>
        <p:txBody>
          <a:bodyPr wrap="square" lIns="0" tIns="0" rIns="0" bIns="0" anchor="t">
            <a:spAutoFit/>
          </a:bodyPr>
          <a:lstStyle/>
          <a:p>
            <a:pPr algn="l">
              <a:spcAft>
                <a:spcPts val="0"/>
              </a:spcAft>
            </a:pPr>
            <a:r>
              <a:rPr sz="1200" b="1">
                <a:solidFill>
                  <a:srgbClr val="51E081"/>
                </a:solidFill>
                <a:latin typeface="Segoe UI"/>
              </a:rPr>
              <a:t>WHAT STAYS HUMAN</a:t>
            </a:r>
          </a:p>
        </p:txBody>
      </p:sp>
      <p:sp>
        <p:nvSpPr>
          <p:cNvPr id="99" name="Card human body">
            <a:extLst>
              <a:ext uri="{FF2B5EF4-FFF2-40B4-BE49-F238E27FC236}">
                <a16:creationId xmlns:a16="http://schemas.microsoft.com/office/drawing/2014/main" id="{03B2D29A-8B9E-B70F-1062-3834591F64DD}"/>
              </a:ext>
            </a:extLst>
          </p:cNvPr>
          <p:cNvSpPr txBox="1"/>
          <p:nvPr/>
        </p:nvSpPr>
        <p:spPr>
          <a:xfrm>
            <a:off x="9299940" y="3119080"/>
            <a:ext cx="2377440" cy="2257028"/>
          </a:xfrm>
          <a:prstGeom prst="rect">
            <a:avLst/>
          </a:prstGeom>
          <a:noFill/>
        </p:spPr>
        <p:txBody>
          <a:bodyPr wrap="square" lIns="0" tIns="0" rIns="0" bIns="0" anchor="t">
            <a:spAutoFit/>
          </a:bodyPr>
          <a:lstStyle/>
          <a:p>
            <a:pPr algn="l">
              <a:spcAft>
                <a:spcPts val="800"/>
              </a:spcAft>
            </a:pPr>
            <a:r>
              <a:rPr sz="1200" b="0">
                <a:solidFill>
                  <a:srgbClr val="FFFFFF"/>
                </a:solidFill>
                <a:latin typeface="Segoe UI"/>
              </a:rPr>
              <a:t>The developer reads every AI diff before it is committed</a:t>
            </a:r>
          </a:p>
          <a:p>
            <a:pPr algn="l">
              <a:spcAft>
                <a:spcPts val="800"/>
              </a:spcAft>
            </a:pPr>
            <a:r>
              <a:rPr sz="1200" b="0">
                <a:solidFill>
                  <a:srgbClr val="FFFFFF"/>
                </a:solidFill>
                <a:latin typeface="Segoe UI"/>
              </a:rPr>
              <a:t>The harness reports; it never fixes, commits or merges</a:t>
            </a:r>
          </a:p>
          <a:p>
            <a:pPr algn="l">
              <a:spcAft>
                <a:spcPts val="800"/>
              </a:spcAft>
            </a:pPr>
            <a:r>
              <a:rPr sz="1200" b="0">
                <a:solidFill>
                  <a:srgbClr val="FFFFFF"/>
                </a:solidFill>
                <a:latin typeface="Segoe UI"/>
              </a:rPr>
              <a:t>The developer owns every line: “the AI wrote it” is no excuse in review</a:t>
            </a:r>
          </a:p>
          <a:p>
            <a:pPr algn="l">
              <a:spcAft>
                <a:spcPts val="800"/>
              </a:spcAft>
            </a:pPr>
            <a:r>
              <a:rPr sz="1200" b="0">
                <a:solidFill>
                  <a:srgbClr val="FFFFFF"/>
                </a:solidFill>
                <a:latin typeface="Segoe UI"/>
              </a:rPr>
              <a:t>AI commits carry a</a:t>
            </a:r>
            <a:br/>
            <a:r>
              <a:rPr sz="1200" b="0">
                <a:solidFill>
                  <a:srgbClr val="FFFFFF"/>
                </a:solidFill>
                <a:latin typeface="Segoe UI"/>
              </a:rPr>
              <a:t>Co-Authored-By trailer</a:t>
            </a:r>
          </a:p>
          <a:p>
            <a:pPr algn="l">
              <a:spcAft>
                <a:spcPts val="800"/>
              </a:spcAft>
            </a:pPr>
            <a:r>
              <a:rPr sz="1200" b="0">
                <a:solidFill>
                  <a:srgbClr val="FFFFFF"/>
                </a:solidFill>
                <a:latin typeface="Segoe UI"/>
              </a:rPr>
              <a:t>Required PR checks pass, then a person merges</a:t>
            </a:r>
          </a:p>
        </p:txBody>
      </p:sp>
      <p:sp>
        <p:nvSpPr>
          <p:cNvPr id="103" name="In practice">
            <a:extLst>
              <a:ext uri="{FF2B5EF4-FFF2-40B4-BE49-F238E27FC236}">
                <a16:creationId xmlns:a16="http://schemas.microsoft.com/office/drawing/2014/main" id="{17358298-B26F-A129-AD5F-E5F060929DC4}"/>
              </a:ext>
            </a:extLst>
          </p:cNvPr>
          <p:cNvSpPr txBox="1"/>
          <p:nvPr/>
        </p:nvSpPr>
        <p:spPr>
          <a:xfrm>
            <a:off x="614033" y="5189913"/>
            <a:ext cx="8321040" cy="369332"/>
          </a:xfrm>
          <a:prstGeom prst="rect">
            <a:avLst/>
          </a:prstGeom>
          <a:noFill/>
        </p:spPr>
        <p:txBody>
          <a:bodyPr wrap="square" lIns="0" tIns="0" rIns="0" bIns="0" anchor="t">
            <a:spAutoFit/>
          </a:bodyPr>
          <a:lstStyle/>
          <a:p>
            <a:r>
              <a:rPr lang="en-US" sz="1300" b="1">
                <a:solidFill>
                  <a:srgbClr val="194147"/>
                </a:solidFill>
                <a:latin typeface="Segoe UI"/>
              </a:rPr>
              <a:t>Dev Harness</a:t>
            </a:r>
            <a:r>
              <a:rPr sz="1300" b="1">
                <a:solidFill>
                  <a:srgbClr val="194147"/>
                </a:solidFill>
                <a:latin typeface="Segoe UI"/>
              </a:rPr>
              <a:t>: </a:t>
            </a:r>
            <a:r>
              <a:rPr lang="en-US" sz="1100">
                <a:latin typeface="Segoe UI"/>
                <a:cs typeface="Segoe UI"/>
              </a:rPr>
              <a:t>Six parallel checks (architecture, database gate, citation guard, no LLM where unjustified, async and config, coding standards) review each code change before it’s committed.</a:t>
            </a:r>
            <a:endParaRPr sz="1100" b="0">
              <a:solidFill>
                <a:srgbClr val="0C2226"/>
              </a:solidFill>
              <a:latin typeface="Segoe UI"/>
              <a:cs typeface="Segoe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STAGE 4 · TESTING AND EVALUATION</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a:t>We tested the AI and the whole app, found failures, and fixed them</a:t>
            </a:r>
            <a:endParaRPr lang="en-US" sz="2800"/>
          </a:p>
        </p:txBody>
      </p:sp>
      <p:sp>
        <p:nvSpPr>
          <p:cNvPr id="4" name="Text 2"/>
          <p:cNvSpPr/>
          <p:nvPr/>
        </p:nvSpPr>
        <p:spPr>
          <a:xfrm>
            <a:off x="812800" y="1772841"/>
            <a:ext cx="5860288" cy="238720"/>
          </a:xfrm>
          <a:prstGeom prst="rect">
            <a:avLst/>
          </a:prstGeom>
          <a:noFill/>
          <a:ln/>
        </p:spPr>
        <p:txBody>
          <a:bodyPr wrap="square" lIns="0" tIns="0" rIns="0" bIns="0" rtlCol="0" anchor="t">
            <a:normAutofit/>
          </a:bodyPr>
          <a:lstStyle/>
          <a:p>
            <a:pPr marL="0" indent="0" algn="l">
              <a:lnSpc>
                <a:spcPts val="1680"/>
              </a:lnSpc>
              <a:buNone/>
            </a:pPr>
            <a:r>
              <a:rPr lang="en-US"/>
              <a:t>AI checks: does each AI feature give the right answer?</a:t>
            </a:r>
            <a:endParaRPr lang="en-US" sz="1400"/>
          </a:p>
        </p:txBody>
      </p:sp>
      <p:graphicFrame>
        <p:nvGraphicFramePr>
          <p:cNvPr id="5" name="Table 0"/>
          <p:cNvGraphicFramePr>
            <a:graphicFrameLocks noGrp="1"/>
          </p:cNvGraphicFramePr>
          <p:nvPr>
            <p:extLst>
              <p:ext uri="{D42A27DB-BD31-4B8C-83A1-F6EECF244321}">
                <p14:modId xmlns:p14="http://schemas.microsoft.com/office/powerpoint/2010/main" val="741207291"/>
              </p:ext>
            </p:extLst>
          </p:nvPr>
        </p:nvGraphicFramePr>
        <p:xfrm>
          <a:off x="825500" y="2100461"/>
          <a:ext cx="5676900" cy="2405063"/>
        </p:xfrm>
        <a:graphic>
          <a:graphicData uri="http://schemas.openxmlformats.org/drawingml/2006/table">
            <a:tbl>
              <a:tblPr/>
              <a:tblGrid>
                <a:gridCol w="1892300">
                  <a:extLst>
                    <a:ext uri="{9D8B030D-6E8A-4147-A177-3AD203B41FA5}">
                      <a16:colId xmlns:a16="http://schemas.microsoft.com/office/drawing/2014/main" val="20000"/>
                    </a:ext>
                  </a:extLst>
                </a:gridCol>
                <a:gridCol w="1892300">
                  <a:extLst>
                    <a:ext uri="{9D8B030D-6E8A-4147-A177-3AD203B41FA5}">
                      <a16:colId xmlns:a16="http://schemas.microsoft.com/office/drawing/2014/main" val="20001"/>
                    </a:ext>
                  </a:extLst>
                </a:gridCol>
                <a:gridCol w="1892300">
                  <a:extLst>
                    <a:ext uri="{9D8B030D-6E8A-4147-A177-3AD203B41FA5}">
                      <a16:colId xmlns:a16="http://schemas.microsoft.com/office/drawing/2014/main" val="20002"/>
                    </a:ext>
                  </a:extLst>
                </a:gridCol>
              </a:tblGrid>
              <a:tr h="353020">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Eval</a:t>
                      </a:r>
                      <a:endParaRPr lang="en-US" sz="1200">
                        <a:latin typeface="IBM Plex Sans" charset="0"/>
                        <a:ea typeface="IBM Plex Sans" charset="0"/>
                        <a:cs typeface="IBM Plex Sans" charset="0"/>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Cases</a:t>
                      </a:r>
                      <a:endParaRPr lang="en-US" sz="1200">
                        <a:latin typeface="IBM Plex Sans" charset="0"/>
                        <a:ea typeface="IBM Plex Sans" charset="0"/>
                        <a:cs typeface="IBM Plex Sans" charset="0"/>
                      </a:endParaRPr>
                    </a:p>
                  </a:txBody>
                  <a:tcPr marL="76200" marR="76200" marT="63500" marB="63500">
                    <a:lnL w="12700" cap="flat" cmpd="sng" algn="ctr">
                      <a:solidFill>
                        <a:srgbClr val="B5B7B4"/>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tc>
                  <a:txBody>
                    <a:bodyPr/>
                    <a:lstStyle/>
                    <a:p>
                      <a:pPr marL="0" indent="0">
                        <a:lnSpc>
                          <a:spcPts val="1680"/>
                        </a:lnSpc>
                        <a:buNone/>
                      </a:pPr>
                      <a:r>
                        <a:rPr lang="en-US" sz="1200" b="1">
                          <a:solidFill>
                            <a:srgbClr val="14262A"/>
                          </a:solidFill>
                          <a:latin typeface="IBM Plex Sans" pitchFamily="34" charset="0"/>
                          <a:ea typeface="IBM Plex Sans" pitchFamily="34" charset="-122"/>
                          <a:cs typeface="IBM Plex Sans" pitchFamily="34" charset="-120"/>
                        </a:rPr>
                        <a:t>Scoring</a:t>
                      </a:r>
                      <a:endParaRPr lang="en-US" sz="1200">
                        <a:latin typeface="IBM Plex Sans" charset="0"/>
                        <a:ea typeface="IBM Plex Sans" charset="0"/>
                        <a:cs typeface="IBM Plex Sans" charset="0"/>
                      </a:endParaRPr>
                    </a:p>
                  </a:txBody>
                  <a:tcPr marL="76200" marR="76200" marT="63500" marB="63500">
                    <a:lnL w="12700" cap="flat" cmpd="sng" algn="ctr">
                      <a:solidFill>
                        <a:srgbClr val="B5B7B4"/>
                      </a:solidFill>
                      <a:prstDash val="solid"/>
                      <a:round/>
                      <a:headEnd type="none" w="med" len="med"/>
                      <a:tailEnd type="none" w="med" len="med"/>
                    </a:lnL>
                    <a:lnR w="12700" cap="flat" cmpd="sng" algn="ctr">
                      <a:solidFill>
                        <a:srgbClr val="B5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5B7B4"/>
                      </a:solidFill>
                      <a:prstDash val="solid"/>
                      <a:round/>
                      <a:headEnd type="none" w="med" len="med"/>
                      <a:tailEnd type="none" w="med" len="med"/>
                    </a:lnB>
                    <a:solidFill>
                      <a:srgbClr val="E3E5E2"/>
                    </a:solidFill>
                  </a:tcPr>
                </a:tc>
                <a:extLst>
                  <a:ext uri="{0D108BD9-81ED-4DB2-BD59-A6C34878D82A}">
                    <a16:rowId xmlns:a16="http://schemas.microsoft.com/office/drawing/2014/main" val="10000"/>
                  </a:ext>
                </a:extLst>
              </a:tr>
              <a:tr h="566341">
                <a:tc>
                  <a:txBody>
                    <a:bodyPr/>
                    <a:lstStyle/>
                    <a:p>
                      <a:pPr marL="0" indent="0">
                        <a:lnSpc>
                          <a:spcPts val="1680"/>
                        </a:lnSpc>
                        <a:buNone/>
                      </a:pPr>
                      <a:r>
                        <a:rPr lang="en-US" sz="1100">
                          <a:solidFill>
                            <a:srgbClr val="14262A"/>
                          </a:solidFill>
                          <a:latin typeface="Segoe UI"/>
                          <a:ea typeface="IBM Plex Sans" pitchFamily="34" charset="-122"/>
                          <a:cs typeface="Segoe UI"/>
                        </a:rPr>
                        <a:t>Category mapping</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5</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Set overlap; nothing outside the list</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5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1"/>
                  </a:ext>
                </a:extLst>
              </a:tr>
              <a:tr h="566341">
                <a:tc>
                  <a:txBody>
                    <a:bodyPr/>
                    <a:lstStyle/>
                    <a:p>
                      <a:pPr marL="0" indent="0">
                        <a:lnSpc>
                          <a:spcPts val="1680"/>
                        </a:lnSpc>
                        <a:buNone/>
                      </a:pPr>
                      <a:r>
                        <a:rPr lang="en-US" sz="1100">
                          <a:solidFill>
                            <a:srgbClr val="14262A"/>
                          </a:solidFill>
                          <a:latin typeface="Segoe UI"/>
                          <a:ea typeface="IBM Plex Sans" pitchFamily="34" charset="-122"/>
                          <a:cs typeface="Segoe UI"/>
                        </a:rPr>
                        <a:t>Document extraction</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4</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Exact match; ambiguity flagged</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2"/>
                  </a:ext>
                </a:extLst>
              </a:tr>
              <a:tr h="566341">
                <a:tc>
                  <a:txBody>
                    <a:bodyPr/>
                    <a:lstStyle/>
                    <a:p>
                      <a:pPr marL="0" indent="0">
                        <a:lnSpc>
                          <a:spcPts val="1680"/>
                        </a:lnSpc>
                        <a:buNone/>
                      </a:pPr>
                      <a:r>
                        <a:rPr lang="en-US" sz="1100">
                          <a:solidFill>
                            <a:srgbClr val="14262A"/>
                          </a:solidFill>
                          <a:latin typeface="Segoe UI"/>
                          <a:ea typeface="IBM Plex Sans" pitchFamily="34" charset="-122"/>
                          <a:cs typeface="Segoe UI"/>
                        </a:rPr>
                        <a:t>Narrative drafting</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3</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Heuristic proxy, labelled as such</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3"/>
                  </a:ext>
                </a:extLst>
              </a:tr>
              <a:tr h="353020">
                <a:tc>
                  <a:txBody>
                    <a:bodyPr/>
                    <a:lstStyle/>
                    <a:p>
                      <a:pPr marL="0" indent="0">
                        <a:lnSpc>
                          <a:spcPts val="1680"/>
                        </a:lnSpc>
                        <a:buNone/>
                      </a:pPr>
                      <a:r>
                        <a:rPr lang="en-US" sz="1100">
                          <a:solidFill>
                            <a:srgbClr val="14262A"/>
                          </a:solidFill>
                          <a:latin typeface="Segoe UI"/>
                          <a:ea typeface="IBM Plex Sans" pitchFamily="34" charset="-122"/>
                          <a:cs typeface="Segoe UI"/>
                        </a:rPr>
                        <a:t>Guard clauses</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2</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100">
                          <a:solidFill>
                            <a:srgbClr val="14262A"/>
                          </a:solidFill>
                          <a:latin typeface="Segoe UI"/>
                          <a:ea typeface="IBM Plex Sans" pitchFamily="34" charset="-122"/>
                          <a:cs typeface="Segoe UI"/>
                        </a:rPr>
                        <a:t>Zero-cost: no model call</a:t>
                      </a:r>
                      <a:endParaRPr lang="en-US" sz="1100">
                        <a:latin typeface="Segoe UI"/>
                        <a:ea typeface="IBM Plex Sans" charset="0"/>
                        <a:cs typeface="Segoe UI"/>
                      </a:endParaRPr>
                    </a:p>
                  </a:txBody>
                  <a:tcPr marL="76200" marR="76200" marT="63500" marB="635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6807200" y="1772841"/>
            <a:ext cx="4709160"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14262A"/>
                </a:solidFill>
                <a:latin typeface="IBM Plex Sans" pitchFamily="34" charset="0"/>
                <a:ea typeface="IBM Plex Sans" pitchFamily="34" charset="-122"/>
                <a:cs typeface="IBM Plex Sans" pitchFamily="34" charset="-120"/>
              </a:rPr>
              <a:t>QA end-to-end testing</a:t>
            </a:r>
            <a:endParaRPr lang="en-US" sz="1400"/>
          </a:p>
        </p:txBody>
      </p:sp>
      <p:sp>
        <p:nvSpPr>
          <p:cNvPr id="7" name="Text 4"/>
          <p:cNvSpPr/>
          <p:nvPr/>
        </p:nvSpPr>
        <p:spPr>
          <a:xfrm>
            <a:off x="6807200" y="2087761"/>
            <a:ext cx="14732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120</a:t>
            </a:r>
            <a:endParaRPr lang="en-US" sz="3000"/>
          </a:p>
        </p:txBody>
      </p:sp>
      <p:sp>
        <p:nvSpPr>
          <p:cNvPr id="8" name="Text 5"/>
          <p:cNvSpPr/>
          <p:nvPr/>
        </p:nvSpPr>
        <p:spPr>
          <a:xfrm>
            <a:off x="6807200" y="2621161"/>
            <a:ext cx="147320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3D4D50"/>
                </a:solidFill>
                <a:latin typeface="IBM Plex Sans" pitchFamily="34" charset="0"/>
                <a:ea typeface="IBM Plex Sans" pitchFamily="34" charset="-122"/>
                <a:cs typeface="IBM Plex Sans" pitchFamily="34" charset="-120"/>
              </a:rPr>
              <a:t>e2e test cases</a:t>
            </a:r>
            <a:endParaRPr lang="en-US" sz="1200"/>
          </a:p>
        </p:txBody>
      </p:sp>
      <p:sp>
        <p:nvSpPr>
          <p:cNvPr id="9" name="Text 6"/>
          <p:cNvSpPr/>
          <p:nvPr/>
        </p:nvSpPr>
        <p:spPr>
          <a:xfrm>
            <a:off x="8382000" y="2087761"/>
            <a:ext cx="14732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13</a:t>
            </a:r>
            <a:endParaRPr lang="en-US" sz="3000"/>
          </a:p>
        </p:txBody>
      </p:sp>
      <p:sp>
        <p:nvSpPr>
          <p:cNvPr id="10" name="Text 7"/>
          <p:cNvSpPr/>
          <p:nvPr/>
        </p:nvSpPr>
        <p:spPr>
          <a:xfrm>
            <a:off x="8382000" y="2621161"/>
            <a:ext cx="147320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3D4D50"/>
                </a:solidFill>
                <a:latin typeface="IBM Plex Sans" pitchFamily="34" charset="0"/>
                <a:ea typeface="IBM Plex Sans" pitchFamily="34" charset="-122"/>
                <a:cs typeface="IBM Plex Sans" pitchFamily="34" charset="-120"/>
              </a:rPr>
              <a:t>Playwright specs</a:t>
            </a:r>
            <a:endParaRPr lang="en-US" sz="1200"/>
          </a:p>
        </p:txBody>
      </p:sp>
      <p:sp>
        <p:nvSpPr>
          <p:cNvPr id="11" name="Text 8"/>
          <p:cNvSpPr/>
          <p:nvPr/>
        </p:nvSpPr>
        <p:spPr>
          <a:xfrm>
            <a:off x="9956800" y="2087761"/>
            <a:ext cx="1473200" cy="558800"/>
          </a:xfrm>
          <a:prstGeom prst="rect">
            <a:avLst/>
          </a:prstGeom>
          <a:noFill/>
          <a:ln/>
        </p:spPr>
        <p:txBody>
          <a:bodyPr wrap="square" lIns="0" tIns="0" rIns="0" bIns="0" rtlCol="0" anchor="t">
            <a:normAutofit/>
          </a:bodyPr>
          <a:lstStyle/>
          <a:p>
            <a:pPr marL="0" indent="0" algn="l">
              <a:lnSpc>
                <a:spcPts val="4200"/>
              </a:lnSpc>
              <a:buNone/>
            </a:pPr>
            <a:r>
              <a:rPr lang="en-US" sz="3000" b="1">
                <a:solidFill>
                  <a:srgbClr val="1C7A45"/>
                </a:solidFill>
                <a:latin typeface="IBM Plex Sans" pitchFamily="34" charset="0"/>
                <a:ea typeface="IBM Plex Sans" pitchFamily="34" charset="-122"/>
                <a:cs typeface="IBM Plex Sans" pitchFamily="34" charset="-120"/>
              </a:rPr>
              <a:t>218</a:t>
            </a:r>
            <a:endParaRPr lang="en-US" sz="3000"/>
          </a:p>
        </p:txBody>
      </p:sp>
      <p:sp>
        <p:nvSpPr>
          <p:cNvPr id="12" name="Text 9"/>
          <p:cNvSpPr/>
          <p:nvPr/>
        </p:nvSpPr>
        <p:spPr>
          <a:xfrm>
            <a:off x="9956800" y="2621161"/>
            <a:ext cx="147320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3D4D50"/>
                </a:solidFill>
                <a:latin typeface="IBM Plex Sans" pitchFamily="34" charset="0"/>
                <a:ea typeface="IBM Plex Sans" pitchFamily="34" charset="-122"/>
                <a:cs typeface="IBM Plex Sans" pitchFamily="34" charset="-120"/>
              </a:rPr>
              <a:t>evidence files</a:t>
            </a:r>
            <a:endParaRPr lang="en-US" sz="1200"/>
          </a:p>
        </p:txBody>
      </p:sp>
      <p:sp>
        <p:nvSpPr>
          <p:cNvPr id="13" name="Shape 10"/>
          <p:cNvSpPr/>
          <p:nvPr/>
        </p:nvSpPr>
        <p:spPr>
          <a:xfrm>
            <a:off x="6819900" y="2936081"/>
            <a:ext cx="0" cy="198107"/>
          </a:xfrm>
          <a:prstGeom prst="line">
            <a:avLst/>
          </a:prstGeom>
          <a:noFill/>
          <a:ln w="25400">
            <a:solidFill>
              <a:srgbClr val="C76A12"/>
            </a:solidFill>
            <a:prstDash val="solid"/>
          </a:ln>
        </p:spPr>
        <p:txBody>
          <a:bodyPr/>
          <a:lstStyle/>
          <a:p>
            <a:endParaRPr lang="en-US"/>
          </a:p>
        </p:txBody>
      </p:sp>
      <p:sp>
        <p:nvSpPr>
          <p:cNvPr id="14" name="Text 11"/>
          <p:cNvSpPr/>
          <p:nvPr/>
        </p:nvSpPr>
        <p:spPr>
          <a:xfrm>
            <a:off x="6934200" y="2936081"/>
            <a:ext cx="4578350" cy="223507"/>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4262A"/>
                </a:solidFill>
                <a:latin typeface="IBM Plex Sans" pitchFamily="34" charset="0"/>
                <a:ea typeface="IBM Plex Sans" pitchFamily="34" charset="-122"/>
                <a:cs typeface="IBM Plex Sans" pitchFamily="34" charset="-120"/>
              </a:rPr>
              <a:t>46 of 120 failed</a:t>
            </a:r>
            <a:r>
              <a:rPr lang="en-US" sz="1200">
                <a:solidFill>
                  <a:srgbClr val="14262A"/>
                </a:solidFill>
                <a:latin typeface="IBM Plex Sans" pitchFamily="34" charset="0"/>
                <a:ea typeface="IBM Plex Sans" pitchFamily="34" charset="-122"/>
                <a:cs typeface="IBM Plex Sans" pitchFamily="34" charset="-120"/>
              </a:rPr>
              <a:t> on the first run, 25 Sep</a:t>
            </a:r>
            <a:endParaRPr lang="en-US" sz="1200"/>
          </a:p>
        </p:txBody>
      </p:sp>
      <p:sp>
        <p:nvSpPr>
          <p:cNvPr id="15" name="Shape 12"/>
          <p:cNvSpPr/>
          <p:nvPr/>
        </p:nvSpPr>
        <p:spPr>
          <a:xfrm>
            <a:off x="6819900" y="3235790"/>
            <a:ext cx="0" cy="396214"/>
          </a:xfrm>
          <a:prstGeom prst="line">
            <a:avLst/>
          </a:prstGeom>
          <a:noFill/>
          <a:ln w="25400">
            <a:solidFill>
              <a:srgbClr val="C76A12"/>
            </a:solidFill>
            <a:prstDash val="solid"/>
          </a:ln>
        </p:spPr>
        <p:txBody>
          <a:bodyPr/>
          <a:lstStyle/>
          <a:p>
            <a:endParaRPr lang="en-US"/>
          </a:p>
        </p:txBody>
      </p:sp>
      <p:sp>
        <p:nvSpPr>
          <p:cNvPr id="16" name="Text 13"/>
          <p:cNvSpPr/>
          <p:nvPr/>
        </p:nvSpPr>
        <p:spPr>
          <a:xfrm>
            <a:off x="6934200" y="3235790"/>
            <a:ext cx="4578350" cy="421614"/>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4262A"/>
                </a:solidFill>
                <a:latin typeface="IBM Plex Sans" pitchFamily="34" charset="0"/>
                <a:ea typeface="IBM Plex Sans" pitchFamily="34" charset="-122"/>
                <a:cs typeface="IBM Plex Sans" pitchFamily="34" charset="-120"/>
              </a:rPr>
              <a:t>31 defects</a:t>
            </a:r>
            <a:r>
              <a:rPr lang="en-US" sz="1200">
                <a:solidFill>
                  <a:srgbClr val="14262A"/>
                </a:solidFill>
                <a:latin typeface="IBM Plex Sans" pitchFamily="34" charset="0"/>
                <a:ea typeface="IBM Plex Sans" pitchFamily="34" charset="-122"/>
                <a:cs typeface="IBM Plex Sans" pitchFamily="34" charset="-120"/>
              </a:rPr>
              <a:t> (3 Critical, 10 High, 13 Medium, 5 Low), AI-filed as Bugs #99–127</a:t>
            </a:r>
            <a:endParaRPr lang="en-US" sz="1200"/>
          </a:p>
        </p:txBody>
      </p:sp>
      <p:sp>
        <p:nvSpPr>
          <p:cNvPr id="17" name="Shape 14"/>
          <p:cNvSpPr/>
          <p:nvPr/>
        </p:nvSpPr>
        <p:spPr>
          <a:xfrm>
            <a:off x="6819900" y="3733602"/>
            <a:ext cx="0" cy="198107"/>
          </a:xfrm>
          <a:prstGeom prst="line">
            <a:avLst/>
          </a:prstGeom>
          <a:noFill/>
          <a:ln w="25400">
            <a:solidFill>
              <a:srgbClr val="1C7A45"/>
            </a:solidFill>
            <a:prstDash val="solid"/>
          </a:ln>
        </p:spPr>
        <p:txBody>
          <a:bodyPr/>
          <a:lstStyle/>
          <a:p>
            <a:endParaRPr lang="en-US"/>
          </a:p>
        </p:txBody>
      </p:sp>
      <p:sp>
        <p:nvSpPr>
          <p:cNvPr id="18" name="Text 15"/>
          <p:cNvSpPr/>
          <p:nvPr/>
        </p:nvSpPr>
        <p:spPr>
          <a:xfrm>
            <a:off x="6934200" y="3733602"/>
            <a:ext cx="4578350" cy="223507"/>
          </a:xfrm>
          <a:prstGeom prst="rect">
            <a:avLst/>
          </a:prstGeom>
          <a:noFill/>
          <a:ln/>
        </p:spPr>
        <p:txBody>
          <a:bodyPr wrap="square" lIns="0" tIns="0" rIns="0" bIns="0" rtlCol="0" anchor="t">
            <a:normAutofit/>
          </a:bodyPr>
          <a:lstStyle/>
          <a:p>
            <a:pPr marL="0" indent="0" algn="l">
              <a:lnSpc>
                <a:spcPts val="1560"/>
              </a:lnSpc>
              <a:buNone/>
            </a:pPr>
            <a:r>
              <a:rPr lang="en-US" sz="1200" b="1">
                <a:solidFill>
                  <a:srgbClr val="14262A"/>
                </a:solidFill>
                <a:latin typeface="IBM Plex Sans" pitchFamily="34" charset="0"/>
                <a:ea typeface="IBM Plex Sans" pitchFamily="34" charset="-122"/>
                <a:cs typeface="IBM Plex Sans" pitchFamily="34" charset="-120"/>
              </a:rPr>
              <a:t>Re-run after fixes</a:t>
            </a:r>
            <a:r>
              <a:rPr lang="en-US" sz="1200">
                <a:solidFill>
                  <a:srgbClr val="14262A"/>
                </a:solidFill>
                <a:latin typeface="IBM Plex Sans" pitchFamily="34" charset="0"/>
                <a:ea typeface="IBM Plex Sans" pitchFamily="34" charset="-122"/>
                <a:cs typeface="IBM Plex Sans" pitchFamily="34" charset="-120"/>
              </a:rPr>
              <a:t>, 28 Sep</a:t>
            </a:r>
            <a:endParaRPr lang="en-US" sz="1200"/>
          </a:p>
        </p:txBody>
      </p:sp>
      <p:sp>
        <p:nvSpPr>
          <p:cNvPr id="19" name="Text 16"/>
          <p:cNvSpPr/>
          <p:nvPr/>
        </p:nvSpPr>
        <p:spPr>
          <a:xfrm>
            <a:off x="815975" y="4788098"/>
            <a:ext cx="5187950" cy="667544"/>
          </a:xfrm>
          <a:prstGeom prst="roundRect">
            <a:avLst>
              <a:gd name="adj" fmla="val 10939"/>
            </a:avLst>
          </a:prstGeom>
          <a:solidFill>
            <a:srgbClr val="FFFFFF"/>
          </a:solidFill>
          <a:ln w="6350">
            <a:solidFill>
              <a:srgbClr val="DFE5E1"/>
            </a:solidFill>
            <a:prstDash val="solid"/>
          </a:ln>
        </p:spPr>
        <p:txBody>
          <a:bodyPr wrap="square" lIns="132070" tIns="106670" rIns="0" bIns="81270" rtlCol="0" anchor="t">
            <a:normAutofit/>
          </a:bodyPr>
          <a:lstStyle/>
          <a:p>
            <a:pPr marL="0" indent="0" algn="l">
              <a:lnSpc>
                <a:spcPts val="1620"/>
              </a:lnSpc>
              <a:buNone/>
            </a:pPr>
            <a:r>
              <a:rPr lang="en-US" sz="1200" b="1" dirty="0">
                <a:solidFill>
                  <a:srgbClr val="14262A"/>
                </a:solidFill>
                <a:latin typeface="IBM Plex Sans"/>
                <a:ea typeface="IBM Plex Sans" pitchFamily="34" charset="-122"/>
                <a:cs typeface="IBM Plex Sans" pitchFamily="34" charset="-120"/>
              </a:rPr>
              <a:t>Unplanned iteration:</a:t>
            </a:r>
            <a:r>
              <a:rPr lang="en-US" sz="1200" dirty="0">
                <a:solidFill>
                  <a:srgbClr val="14262A"/>
                </a:solidFill>
                <a:latin typeface="IBM Plex Sans"/>
                <a:ea typeface="IBM Plex Sans" pitchFamily="34" charset="-122"/>
                <a:cs typeface="IBM Plex Sans" pitchFamily="34" charset="-120"/>
              </a:rPr>
              <a:t> </a:t>
            </a:r>
            <a:r>
              <a:rPr lang="en-US" sz="1100" dirty="0">
                <a:solidFill>
                  <a:srgbClr val="14262A"/>
                </a:solidFill>
                <a:latin typeface="Segoe UI"/>
                <a:ea typeface="IBM Plex Sans" pitchFamily="34" charset="-122"/>
                <a:cs typeface="Segoe UI"/>
              </a:rPr>
              <a:t>SLA tracking (Epic 19) was added after the first build; the 15–20 day cycle had no requirement.</a:t>
            </a:r>
            <a:endParaRPr lang="en-US" sz="1100">
              <a:latin typeface="Segoe UI"/>
              <a:cs typeface="Segoe UI"/>
            </a:endParaRPr>
          </a:p>
        </p:txBody>
      </p:sp>
      <p:sp>
        <p:nvSpPr>
          <p:cNvPr id="20" name="Text 17"/>
          <p:cNvSpPr/>
          <p:nvPr/>
        </p:nvSpPr>
        <p:spPr>
          <a:xfrm>
            <a:off x="6188075" y="4788098"/>
            <a:ext cx="5187950" cy="667544"/>
          </a:xfrm>
          <a:prstGeom prst="roundRect">
            <a:avLst>
              <a:gd name="adj" fmla="val 10939"/>
            </a:avLst>
          </a:prstGeom>
          <a:solidFill>
            <a:srgbClr val="FFFFFF"/>
          </a:solidFill>
          <a:ln w="6350">
            <a:solidFill>
              <a:srgbClr val="DFE5E1"/>
            </a:solidFill>
            <a:prstDash val="solid"/>
          </a:ln>
        </p:spPr>
        <p:txBody>
          <a:bodyPr wrap="square" lIns="132070" tIns="106670" rIns="0" bIns="81270" rtlCol="0" anchor="t">
            <a:normAutofit/>
          </a:bodyPr>
          <a:lstStyle/>
          <a:p>
            <a:pPr>
              <a:lnSpc>
                <a:spcPts val="1620"/>
              </a:lnSpc>
            </a:pPr>
            <a:r>
              <a:rPr lang="en-US" sz="1200" b="1" dirty="0">
                <a:solidFill>
                  <a:srgbClr val="14262A"/>
                </a:solidFill>
                <a:latin typeface="IBM Plex Sans"/>
                <a:ea typeface="IBM Plex Sans" pitchFamily="34" charset="-122"/>
                <a:cs typeface="IBM Plex Sans" pitchFamily="34" charset="-120"/>
              </a:rPr>
              <a:t>When AI fails:</a:t>
            </a:r>
            <a:r>
              <a:rPr lang="en-US" sz="1200" dirty="0">
                <a:solidFill>
                  <a:srgbClr val="14262A"/>
                </a:solidFill>
                <a:latin typeface="IBM Plex Sans"/>
                <a:ea typeface="IBM Plex Sans" pitchFamily="34" charset="-122"/>
                <a:cs typeface="IBM Plex Sans" pitchFamily="34" charset="-120"/>
              </a:rPr>
              <a:t> </a:t>
            </a:r>
            <a:r>
              <a:rPr lang="en-US" sz="1100" dirty="0">
                <a:solidFill>
                  <a:srgbClr val="14262A"/>
                </a:solidFill>
                <a:latin typeface="Segoe UI"/>
                <a:ea typeface="IBM Plex Sans" pitchFamily="34" charset="-122"/>
                <a:cs typeface="Segoe UI"/>
              </a:rPr>
              <a:t>manual analyst path; an AI outage never blocks a pull request.</a:t>
            </a:r>
            <a:endParaRPr lang="en-US" sz="1100">
              <a:latin typeface="Segoe UI"/>
              <a:cs typeface="Segoe UI"/>
            </a:endParaRPr>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ea typeface="IBM Plex Sans" pitchFamily="34" charset="-122"/>
                <a:cs typeface="IBM Plex Sans" pitchFamily="34" charset="-120"/>
              </a:rPr>
              <a:t>7</a:t>
            </a:r>
            <a:endParaRPr lang="en-US" sz="1200">
              <a:latin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STAGES 5–6 · DEPLOYMENT AND OPERATIONS</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Deployed as code, reviewed by AI, watched by an agent</a:t>
            </a:r>
            <a:endParaRPr lang="en-US" sz="2800"/>
          </a:p>
        </p:txBody>
      </p:sp>
      <p:sp>
        <p:nvSpPr>
          <p:cNvPr id="4" name="Shape 2"/>
          <p:cNvSpPr/>
          <p:nvPr/>
        </p:nvSpPr>
        <p:spPr>
          <a:xfrm>
            <a:off x="815975" y="1776016"/>
            <a:ext cx="3397250" cy="2591925"/>
          </a:xfrm>
          <a:prstGeom prst="roundRect">
            <a:avLst>
              <a:gd name="adj" fmla="val 3797"/>
            </a:avLst>
          </a:prstGeom>
          <a:solidFill>
            <a:srgbClr val="FFFFFF"/>
          </a:solidFill>
          <a:ln w="6350">
            <a:solidFill>
              <a:srgbClr val="DFE5E1"/>
            </a:solidFill>
            <a:prstDash val="solid"/>
          </a:ln>
        </p:spPr>
        <p:txBody>
          <a:bodyPr/>
          <a:lstStyle/>
          <a:p>
            <a:endParaRPr lang="en-US"/>
          </a:p>
        </p:txBody>
      </p:sp>
      <p:sp>
        <p:nvSpPr>
          <p:cNvPr id="5" name="Text 3"/>
          <p:cNvSpPr/>
          <p:nvPr/>
        </p:nvSpPr>
        <p:spPr>
          <a:xfrm>
            <a:off x="994833" y="1954876"/>
            <a:ext cx="3130719"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14262A"/>
                </a:solidFill>
                <a:latin typeface="IBM Plex Sans" pitchFamily="34" charset="0"/>
                <a:ea typeface="IBM Plex Sans" pitchFamily="34" charset="-122"/>
                <a:cs typeface="IBM Plex Sans" pitchFamily="34" charset="-120"/>
              </a:rPr>
              <a:t>Infrastructure and gates</a:t>
            </a:r>
            <a:endParaRPr lang="en-US" sz="1400"/>
          </a:p>
        </p:txBody>
      </p:sp>
      <p:sp>
        <p:nvSpPr>
          <p:cNvPr id="6" name="Text 4"/>
          <p:cNvSpPr/>
          <p:nvPr/>
        </p:nvSpPr>
        <p:spPr>
          <a:xfrm>
            <a:off x="994833" y="2257096"/>
            <a:ext cx="3130719"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Reusable Terraform modules</a:t>
            </a:r>
            <a:endParaRPr lang="en-US" sz="1100">
              <a:latin typeface="Segoe UI"/>
              <a:cs typeface="Segoe UI"/>
            </a:endParaRPr>
          </a:p>
        </p:txBody>
      </p:sp>
      <p:sp>
        <p:nvSpPr>
          <p:cNvPr id="7" name="Text 5"/>
          <p:cNvSpPr/>
          <p:nvPr/>
        </p:nvSpPr>
        <p:spPr>
          <a:xfrm>
            <a:off x="994833" y="2544102"/>
            <a:ext cx="3215217"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Private endpoints, deny-by-default networking</a:t>
            </a:r>
            <a:endParaRPr lang="en-US" sz="1100">
              <a:latin typeface="Segoe UI"/>
              <a:cs typeface="Segoe UI"/>
            </a:endParaRPr>
          </a:p>
        </p:txBody>
      </p:sp>
      <p:sp>
        <p:nvSpPr>
          <p:cNvPr id="8" name="Text 6"/>
          <p:cNvSpPr/>
          <p:nvPr/>
        </p:nvSpPr>
        <p:spPr>
          <a:xfrm>
            <a:off x="994833" y="2831108"/>
            <a:ext cx="3130719" cy="223507"/>
          </a:xfrm>
          <a:prstGeom prst="rect">
            <a:avLst/>
          </a:prstGeom>
          <a:noFill/>
          <a:ln/>
        </p:spPr>
        <p:txBody>
          <a:bodyPr wrap="square" lIns="0" tIns="0" rIns="0" bIns="0" rtlCol="0" anchor="t">
            <a:normAutofit/>
          </a:bodyPr>
          <a:lstStyle/>
          <a:p>
            <a:pPr>
              <a:lnSpc>
                <a:spcPts val="1560"/>
              </a:lnSpc>
            </a:pPr>
            <a:r>
              <a:rPr lang="en-US" sz="1100">
                <a:solidFill>
                  <a:srgbClr val="14262A"/>
                </a:solidFill>
                <a:latin typeface="Segoe UI"/>
                <a:ea typeface="IBM Plex Sans" pitchFamily="34" charset="-122"/>
                <a:cs typeface="Segoe UI"/>
              </a:rPr>
              <a:t>Managed identities and no secrets in the code</a:t>
            </a:r>
            <a:endParaRPr lang="en-US" sz="1100">
              <a:latin typeface="Segoe UI"/>
              <a:cs typeface="Segoe UI"/>
            </a:endParaRPr>
          </a:p>
        </p:txBody>
      </p:sp>
      <p:sp>
        <p:nvSpPr>
          <p:cNvPr id="9" name="Text 7"/>
          <p:cNvSpPr/>
          <p:nvPr/>
        </p:nvSpPr>
        <p:spPr>
          <a:xfrm>
            <a:off x="994833" y="3118117"/>
            <a:ext cx="3130719" cy="223507"/>
          </a:xfrm>
          <a:prstGeom prst="rect">
            <a:avLst/>
          </a:prstGeom>
          <a:noFill/>
          <a:ln/>
        </p:spPr>
        <p:txBody>
          <a:bodyPr wrap="square" lIns="0" tIns="0" rIns="0" bIns="0" rtlCol="0" anchor="t">
            <a:normAutofit/>
          </a:bodyPr>
          <a:lstStyle/>
          <a:p>
            <a:pPr>
              <a:lnSpc>
                <a:spcPts val="1560"/>
              </a:lnSpc>
            </a:pPr>
            <a:r>
              <a:rPr lang="en-US" sz="1100" dirty="0">
                <a:solidFill>
                  <a:srgbClr val="14262A"/>
                </a:solidFill>
                <a:latin typeface="Segoe UI"/>
                <a:ea typeface="IBM Plex Sans" pitchFamily="34" charset="-122"/>
                <a:cs typeface="Segoe UI"/>
              </a:rPr>
              <a:t>Hard gates: </a:t>
            </a:r>
            <a:r>
              <a:rPr lang="en-US" sz="1100" dirty="0" err="1">
                <a:solidFill>
                  <a:srgbClr val="14262A"/>
                </a:solidFill>
                <a:latin typeface="Segoe UI"/>
                <a:ea typeface="IBM Plex Sans" pitchFamily="34" charset="-122"/>
                <a:cs typeface="Segoe UI"/>
              </a:rPr>
              <a:t>TFLint</a:t>
            </a:r>
            <a:r>
              <a:rPr lang="en-US" sz="1100" dirty="0">
                <a:solidFill>
                  <a:srgbClr val="14262A"/>
                </a:solidFill>
                <a:latin typeface="Segoe UI"/>
                <a:ea typeface="IBM Plex Sans" pitchFamily="34" charset="-122"/>
                <a:cs typeface="Segoe UI"/>
              </a:rPr>
              <a:t>, plan, </a:t>
            </a:r>
            <a:r>
              <a:rPr lang="en-US" sz="1100" dirty="0" err="1">
                <a:solidFill>
                  <a:srgbClr val="14262A"/>
                </a:solidFill>
                <a:latin typeface="Segoe UI"/>
                <a:ea typeface="IBM Plex Sans" pitchFamily="34" charset="-122"/>
                <a:cs typeface="Segoe UI"/>
              </a:rPr>
              <a:t>Trivy</a:t>
            </a:r>
            <a:r>
              <a:rPr lang="en-US" sz="1100" dirty="0">
                <a:solidFill>
                  <a:srgbClr val="14262A"/>
                </a:solidFill>
                <a:latin typeface="Segoe UI"/>
                <a:ea typeface="IBM Plex Sans" pitchFamily="34" charset="-122"/>
                <a:cs typeface="Segoe UI"/>
              </a:rPr>
              <a:t>, vulnerability check</a:t>
            </a:r>
            <a:endParaRPr lang="en-US" sz="1100" dirty="0">
              <a:latin typeface="Segoe UI"/>
              <a:cs typeface="Segoe UI"/>
            </a:endParaRPr>
          </a:p>
        </p:txBody>
      </p:sp>
      <p:sp>
        <p:nvSpPr>
          <p:cNvPr id="10" name="Text 8"/>
          <p:cNvSpPr/>
          <p:nvPr/>
        </p:nvSpPr>
        <p:spPr>
          <a:xfrm>
            <a:off x="994833" y="3405122"/>
            <a:ext cx="3130719" cy="421614"/>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AI reviewer: read-only JSON verdict; only a blocker fails the build</a:t>
            </a:r>
            <a:endParaRPr lang="en-US" sz="1100">
              <a:latin typeface="Segoe UI"/>
              <a:cs typeface="Segoe UI"/>
            </a:endParaRPr>
          </a:p>
        </p:txBody>
      </p:sp>
      <p:sp>
        <p:nvSpPr>
          <p:cNvPr id="11" name="Shape 9"/>
          <p:cNvSpPr/>
          <p:nvPr/>
        </p:nvSpPr>
        <p:spPr>
          <a:xfrm>
            <a:off x="4400550" y="1779191"/>
            <a:ext cx="3390900" cy="2585575"/>
          </a:xfrm>
          <a:prstGeom prst="roundRect">
            <a:avLst>
              <a:gd name="adj" fmla="val 3684"/>
            </a:avLst>
          </a:prstGeom>
          <a:solidFill>
            <a:srgbClr val="FDF3E7"/>
          </a:solidFill>
          <a:ln w="12700">
            <a:solidFill>
              <a:srgbClr val="C76A12"/>
            </a:solidFill>
            <a:prstDash val="solid"/>
          </a:ln>
        </p:spPr>
        <p:txBody>
          <a:bodyPr/>
          <a:lstStyle/>
          <a:p>
            <a:endParaRPr lang="en-US"/>
          </a:p>
        </p:txBody>
      </p:sp>
      <p:sp>
        <p:nvSpPr>
          <p:cNvPr id="12" name="Text 10"/>
          <p:cNvSpPr/>
          <p:nvPr/>
        </p:nvSpPr>
        <p:spPr>
          <a:xfrm>
            <a:off x="4584700" y="1963341"/>
            <a:ext cx="3113278"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7A3D06"/>
                </a:solidFill>
                <a:latin typeface="IBM Plex Sans" pitchFamily="34" charset="0"/>
                <a:ea typeface="IBM Plex Sans" pitchFamily="34" charset="-122"/>
                <a:cs typeface="IBM Plex Sans" pitchFamily="34" charset="-120"/>
              </a:rPr>
              <a:t>Where humans overruled AI</a:t>
            </a:r>
            <a:endParaRPr lang="en-US" sz="1400"/>
          </a:p>
        </p:txBody>
      </p:sp>
      <p:sp>
        <p:nvSpPr>
          <p:cNvPr id="13" name="Text 11"/>
          <p:cNvSpPr/>
          <p:nvPr/>
        </p:nvSpPr>
        <p:spPr>
          <a:xfrm>
            <a:off x="4584700" y="2265561"/>
            <a:ext cx="3113278"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14262A"/>
                </a:solidFill>
                <a:latin typeface="Segoe UI"/>
                <a:ea typeface="IBM Plex Sans" pitchFamily="34" charset="-122"/>
                <a:cs typeface="Segoe UI"/>
              </a:rPr>
              <a:t>Reverted the auto-merge Claude built</a:t>
            </a:r>
            <a:endParaRPr lang="en-US" sz="1100">
              <a:latin typeface="Segoe UI"/>
              <a:cs typeface="Segoe UI"/>
            </a:endParaRPr>
          </a:p>
        </p:txBody>
      </p:sp>
      <p:sp>
        <p:nvSpPr>
          <p:cNvPr id="14" name="Text 12"/>
          <p:cNvSpPr/>
          <p:nvPr/>
        </p:nvSpPr>
        <p:spPr>
          <a:xfrm>
            <a:off x="4584700" y="2552570"/>
            <a:ext cx="3113278" cy="421614"/>
          </a:xfrm>
          <a:prstGeom prst="rect">
            <a:avLst/>
          </a:prstGeom>
          <a:noFill/>
          <a:ln/>
        </p:spPr>
        <p:txBody>
          <a:bodyPr wrap="square" lIns="0" tIns="0" rIns="0" bIns="0" rtlCol="0" anchor="t">
            <a:normAutofit/>
          </a:bodyPr>
          <a:lstStyle/>
          <a:p>
            <a:pPr marL="0" indent="0" algn="l">
              <a:lnSpc>
                <a:spcPts val="1560"/>
              </a:lnSpc>
              <a:buNone/>
            </a:pPr>
            <a:r>
              <a:rPr lang="en-US" sz="1100" dirty="0">
                <a:solidFill>
                  <a:srgbClr val="14262A"/>
                </a:solidFill>
                <a:latin typeface="Segoe UI"/>
                <a:ea typeface="IBM Plex Sans" pitchFamily="34" charset="-122"/>
                <a:cs typeface="Segoe UI"/>
              </a:rPr>
              <a:t>Rejected Claude's </a:t>
            </a:r>
            <a:r>
              <a:rPr lang="en-US" sz="1100" dirty="0" err="1">
                <a:solidFill>
                  <a:srgbClr val="14262A"/>
                </a:solidFill>
                <a:latin typeface="Segoe UI"/>
                <a:ea typeface="IBM Plex Sans" pitchFamily="34" charset="-122"/>
                <a:cs typeface="Segoe UI"/>
              </a:rPr>
              <a:t>succeededOrFailed</a:t>
            </a:r>
            <a:r>
              <a:rPr lang="en-US" sz="1100" dirty="0">
                <a:solidFill>
                  <a:srgbClr val="14262A"/>
                </a:solidFill>
                <a:latin typeface="Segoe UI"/>
                <a:ea typeface="IBM Plex Sans" pitchFamily="34" charset="-122"/>
                <a:cs typeface="Segoe UI"/>
              </a:rPr>
              <a:t>() pipeline condition</a:t>
            </a:r>
            <a:endParaRPr lang="en-US" sz="1100">
              <a:latin typeface="Segoe UI"/>
              <a:cs typeface="Segoe UI"/>
            </a:endParaRPr>
          </a:p>
        </p:txBody>
      </p:sp>
      <p:sp>
        <p:nvSpPr>
          <p:cNvPr id="15" name="Text 13"/>
          <p:cNvSpPr/>
          <p:nvPr/>
        </p:nvSpPr>
        <p:spPr>
          <a:xfrm>
            <a:off x="4584700" y="3037681"/>
            <a:ext cx="3113278" cy="421614"/>
          </a:xfrm>
          <a:prstGeom prst="rect">
            <a:avLst/>
          </a:prstGeom>
          <a:noFill/>
          <a:ln/>
        </p:spPr>
        <p:txBody>
          <a:bodyPr wrap="square" lIns="0" tIns="0" rIns="0" bIns="0" rtlCol="0" anchor="t">
            <a:normAutofit/>
          </a:bodyPr>
          <a:lstStyle/>
          <a:p>
            <a:pPr marL="0" indent="0" algn="l">
              <a:lnSpc>
                <a:spcPts val="1560"/>
              </a:lnSpc>
              <a:buNone/>
            </a:pPr>
            <a:r>
              <a:rPr lang="en-US" sz="1100" dirty="0">
                <a:solidFill>
                  <a:srgbClr val="14262A"/>
                </a:solidFill>
                <a:latin typeface="Segoe UI"/>
                <a:ea typeface="IBM Plex Sans" pitchFamily="34" charset="-122"/>
                <a:cs typeface="Segoe UI"/>
              </a:rPr>
              <a:t>Corrected Claude's wrong claim about the </a:t>
            </a:r>
            <a:r>
              <a:rPr lang="en-US" sz="1100" dirty="0" err="1">
                <a:solidFill>
                  <a:srgbClr val="14262A"/>
                </a:solidFill>
                <a:latin typeface="Segoe UI"/>
                <a:ea typeface="IBM Plex Sans" pitchFamily="34" charset="-122"/>
                <a:cs typeface="Segoe UI"/>
              </a:rPr>
              <a:t>VNet</a:t>
            </a:r>
            <a:r>
              <a:rPr lang="en-US" sz="1100" dirty="0">
                <a:solidFill>
                  <a:srgbClr val="14262A"/>
                </a:solidFill>
                <a:latin typeface="Segoe UI"/>
                <a:ea typeface="IBM Plex Sans" pitchFamily="34" charset="-122"/>
                <a:cs typeface="Segoe UI"/>
              </a:rPr>
              <a:t> setup</a:t>
            </a:r>
            <a:endParaRPr lang="en-US" sz="1100">
              <a:latin typeface="Segoe UI"/>
              <a:cs typeface="Segoe UI"/>
            </a:endParaRPr>
          </a:p>
        </p:txBody>
      </p:sp>
      <p:sp>
        <p:nvSpPr>
          <p:cNvPr id="17" name="Shape 15"/>
          <p:cNvSpPr/>
          <p:nvPr/>
        </p:nvSpPr>
        <p:spPr>
          <a:xfrm>
            <a:off x="7975600" y="1772841"/>
            <a:ext cx="3403600" cy="2598275"/>
          </a:xfrm>
          <a:prstGeom prst="roundRect">
            <a:avLst>
              <a:gd name="adj" fmla="val 3910"/>
            </a:avLst>
          </a:prstGeom>
          <a:solidFill>
            <a:srgbClr val="0F2629"/>
          </a:solidFill>
          <a:ln/>
        </p:spPr>
        <p:txBody>
          <a:bodyPr/>
          <a:lstStyle/>
          <a:p>
            <a:endParaRPr lang="en-US"/>
          </a:p>
        </p:txBody>
      </p:sp>
      <p:sp>
        <p:nvSpPr>
          <p:cNvPr id="18" name="Text 16"/>
          <p:cNvSpPr/>
          <p:nvPr/>
        </p:nvSpPr>
        <p:spPr>
          <a:xfrm>
            <a:off x="8153400" y="1950641"/>
            <a:ext cx="3139440"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4FD67A"/>
                </a:solidFill>
                <a:latin typeface="IBM Plex Sans" pitchFamily="34" charset="0"/>
                <a:ea typeface="IBM Plex Sans" pitchFamily="34" charset="-122"/>
                <a:cs typeface="IBM Plex Sans" pitchFamily="34" charset="-120"/>
              </a:rPr>
              <a:t>SRE watchdog, every 30 min</a:t>
            </a:r>
            <a:endParaRPr lang="en-US" sz="1400"/>
          </a:p>
        </p:txBody>
      </p:sp>
      <p:sp>
        <p:nvSpPr>
          <p:cNvPr id="19" name="Text 17"/>
          <p:cNvSpPr/>
          <p:nvPr/>
        </p:nvSpPr>
        <p:spPr>
          <a:xfrm>
            <a:off x="8153400" y="2252861"/>
            <a:ext cx="3139440" cy="421614"/>
          </a:xfrm>
          <a:prstGeom prst="rect">
            <a:avLst/>
          </a:prstGeom>
          <a:noFill/>
          <a:ln/>
        </p:spPr>
        <p:txBody>
          <a:bodyPr wrap="square" lIns="0" tIns="0" rIns="0" bIns="0" rtlCol="0" anchor="t">
            <a:normAutofit/>
          </a:bodyPr>
          <a:lstStyle/>
          <a:p>
            <a:pPr marL="0" indent="0" algn="l">
              <a:lnSpc>
                <a:spcPts val="1560"/>
              </a:lnSpc>
              <a:buNone/>
            </a:pPr>
            <a:r>
              <a:rPr lang="en-US" sz="1100" dirty="0" err="1">
                <a:solidFill>
                  <a:srgbClr val="EEF3EF"/>
                </a:solidFill>
                <a:latin typeface="Segoe UI"/>
                <a:ea typeface="IBM Plex Sans" pitchFamily="34" charset="-122"/>
                <a:cs typeface="Segoe UI"/>
              </a:rPr>
              <a:t>OpenTelemetry</a:t>
            </a:r>
            <a:r>
              <a:rPr lang="en-US" sz="1100" dirty="0">
                <a:solidFill>
                  <a:srgbClr val="EEF3EF"/>
                </a:solidFill>
                <a:latin typeface="Segoe UI"/>
                <a:ea typeface="IBM Plex Sans" pitchFamily="34" charset="-122"/>
                <a:cs typeface="Segoe UI"/>
              </a:rPr>
              <a:t> → App Insights → 4 KQL signals</a:t>
            </a:r>
            <a:endParaRPr lang="en-US" sz="1100">
              <a:latin typeface="Segoe UI"/>
              <a:cs typeface="Segoe UI"/>
            </a:endParaRPr>
          </a:p>
        </p:txBody>
      </p:sp>
      <p:sp>
        <p:nvSpPr>
          <p:cNvPr id="20" name="Text 18"/>
          <p:cNvSpPr/>
          <p:nvPr/>
        </p:nvSpPr>
        <p:spPr>
          <a:xfrm>
            <a:off x="8146473" y="2544012"/>
            <a:ext cx="3139440" cy="223507"/>
          </a:xfrm>
          <a:prstGeom prst="rect">
            <a:avLst/>
          </a:prstGeom>
          <a:noFill/>
          <a:ln/>
        </p:spPr>
        <p:txBody>
          <a:bodyPr wrap="square" lIns="0" tIns="0" rIns="0" bIns="0" rtlCol="0" anchor="t">
            <a:normAutofit/>
          </a:bodyPr>
          <a:lstStyle/>
          <a:p>
            <a:pPr marL="0" indent="0" algn="l">
              <a:lnSpc>
                <a:spcPts val="1560"/>
              </a:lnSpc>
              <a:buNone/>
            </a:pPr>
            <a:r>
              <a:rPr lang="en-US" sz="1100" dirty="0">
                <a:solidFill>
                  <a:srgbClr val="EEF3EF"/>
                </a:solidFill>
                <a:latin typeface="Segoe UI"/>
                <a:ea typeface="IBM Plex Sans" pitchFamily="34" charset="-122"/>
                <a:cs typeface="Segoe UI"/>
              </a:rPr>
              <a:t>Claude classifies: critical, warning or OK</a:t>
            </a:r>
            <a:endParaRPr lang="en-US" sz="1100">
              <a:latin typeface="Segoe UI"/>
              <a:cs typeface="Segoe UI"/>
            </a:endParaRPr>
          </a:p>
        </p:txBody>
      </p:sp>
      <p:sp>
        <p:nvSpPr>
          <p:cNvPr id="21" name="Text 19"/>
          <p:cNvSpPr/>
          <p:nvPr/>
        </p:nvSpPr>
        <p:spPr>
          <a:xfrm>
            <a:off x="8153400" y="2831017"/>
            <a:ext cx="3125586" cy="206870"/>
          </a:xfrm>
          <a:prstGeom prst="rect">
            <a:avLst/>
          </a:prstGeom>
          <a:noFill/>
          <a:ln/>
        </p:spPr>
        <p:txBody>
          <a:bodyPr wrap="square" lIns="0" tIns="0" rIns="0" bIns="0" rtlCol="0" anchor="t">
            <a:normAutofit/>
          </a:bodyPr>
          <a:lstStyle/>
          <a:p>
            <a:pPr marL="0" indent="0" algn="l">
              <a:lnSpc>
                <a:spcPts val="1560"/>
              </a:lnSpc>
              <a:buNone/>
            </a:pPr>
            <a:r>
              <a:rPr lang="en-US" sz="1100">
                <a:solidFill>
                  <a:srgbClr val="EEF3EF"/>
                </a:solidFill>
                <a:latin typeface="Segoe UI"/>
                <a:ea typeface="IBM Plex Sans" pitchFamily="34" charset="-122"/>
                <a:cs typeface="Segoe UI"/>
              </a:rPr>
              <a:t>Opens or closes a GitHub issue</a:t>
            </a:r>
            <a:endParaRPr lang="en-US" sz="1100">
              <a:solidFill>
                <a:srgbClr val="EEF3EF"/>
              </a:solidFill>
              <a:latin typeface="Segoe UI"/>
              <a:cs typeface="Segoe UI"/>
            </a:endParaRPr>
          </a:p>
        </p:txBody>
      </p:sp>
      <p:sp>
        <p:nvSpPr>
          <p:cNvPr id="22" name="Text 20"/>
          <p:cNvSpPr/>
          <p:nvPr/>
        </p:nvSpPr>
        <p:spPr>
          <a:xfrm>
            <a:off x="8146473" y="3073678"/>
            <a:ext cx="3139440" cy="206869"/>
          </a:xfrm>
          <a:prstGeom prst="rect">
            <a:avLst/>
          </a:prstGeom>
          <a:noFill/>
          <a:ln/>
        </p:spPr>
        <p:txBody>
          <a:bodyPr wrap="square" lIns="0" tIns="0" rIns="0" bIns="0" rtlCol="0" anchor="t">
            <a:normAutofit/>
          </a:bodyPr>
          <a:lstStyle/>
          <a:p>
            <a:pPr>
              <a:lnSpc>
                <a:spcPts val="1560"/>
              </a:lnSpc>
            </a:pPr>
            <a:r>
              <a:rPr lang="en-US" sz="1100" dirty="0">
                <a:solidFill>
                  <a:srgbClr val="EEF3EF"/>
                </a:solidFill>
                <a:latin typeface="Segoe UI"/>
                <a:cs typeface="Segoe UI"/>
              </a:rPr>
              <a:t>AI only classifies and </a:t>
            </a:r>
            <a:r>
              <a:rPr lang="en-US" sz="1100" dirty="0" err="1">
                <a:solidFill>
                  <a:srgbClr val="EEF3EF"/>
                </a:solidFill>
                <a:latin typeface="Segoe UI"/>
                <a:cs typeface="Segoe UI"/>
              </a:rPr>
              <a:t>summarises</a:t>
            </a:r>
            <a:endParaRPr lang="en-US" dirty="0" err="1"/>
          </a:p>
        </p:txBody>
      </p:sp>
      <p:sp>
        <p:nvSpPr>
          <p:cNvPr id="23" name="Text 21"/>
          <p:cNvSpPr/>
          <p:nvPr/>
        </p:nvSpPr>
        <p:spPr>
          <a:xfrm>
            <a:off x="8153400" y="3295555"/>
            <a:ext cx="3139440" cy="223507"/>
          </a:xfrm>
          <a:prstGeom prst="rect">
            <a:avLst/>
          </a:prstGeom>
          <a:noFill/>
          <a:ln/>
        </p:spPr>
        <p:txBody>
          <a:bodyPr wrap="square" lIns="0" tIns="0" rIns="0" bIns="0" rtlCol="0" anchor="t">
            <a:normAutofit/>
          </a:bodyPr>
          <a:lstStyle/>
          <a:p>
            <a:pPr marL="0" indent="0" algn="l">
              <a:lnSpc>
                <a:spcPts val="1560"/>
              </a:lnSpc>
              <a:buNone/>
            </a:pPr>
            <a:r>
              <a:rPr lang="en-US" sz="1100">
                <a:solidFill>
                  <a:srgbClr val="EEF3EF"/>
                </a:solidFill>
                <a:latin typeface="Segoe UI"/>
                <a:ea typeface="IBM Plex Sans" pitchFamily="34" charset="-122"/>
                <a:cs typeface="Segoe UI"/>
              </a:rPr>
              <a:t>A person decides what to fix</a:t>
            </a:r>
            <a:endParaRPr lang="en-US" sz="1100">
              <a:latin typeface="Segoe UI"/>
              <a:cs typeface="Segoe UI"/>
            </a:endParaRPr>
          </a:p>
        </p:txBody>
      </p:sp>
      <p:sp>
        <p:nvSpPr>
          <p:cNvPr id="24" name="Text 22"/>
          <p:cNvSpPr/>
          <p:nvPr/>
        </p:nvSpPr>
        <p:spPr>
          <a:xfrm>
            <a:off x="812800" y="4650519"/>
            <a:ext cx="10464800" cy="487627"/>
          </a:xfrm>
          <a:prstGeom prst="rect">
            <a:avLst/>
          </a:prstGeom>
          <a:noFill/>
          <a:ln/>
        </p:spPr>
        <p:txBody>
          <a:bodyPr wrap="square" lIns="0" tIns="0" rIns="0" bIns="0" rtlCol="0" anchor="t">
            <a:normAutofit/>
          </a:bodyPr>
          <a:lstStyle/>
          <a:p>
            <a:pPr>
              <a:lnSpc>
                <a:spcPts val="1820"/>
              </a:lnSpc>
            </a:pPr>
            <a:r>
              <a:rPr lang="en-US" sz="1300" b="1" dirty="0">
                <a:solidFill>
                  <a:srgbClr val="3D4D50"/>
                </a:solidFill>
                <a:latin typeface="IBM Plex Sans"/>
                <a:ea typeface="IBM Plex Sans" pitchFamily="34" charset="-122"/>
                <a:cs typeface="IBM Plex Sans" pitchFamily="34" charset="-120"/>
              </a:rPr>
              <a:t>Production readiness:</a:t>
            </a:r>
            <a:r>
              <a:rPr lang="en-US" sz="1300" dirty="0">
                <a:solidFill>
                  <a:srgbClr val="3D4D50"/>
                </a:solidFill>
                <a:latin typeface="IBM Plex Sans"/>
                <a:ea typeface="IBM Plex Sans" pitchFamily="34" charset="-122"/>
                <a:cs typeface="IBM Plex Sans" pitchFamily="34" charset="-120"/>
              </a:rPr>
              <a:t> </a:t>
            </a:r>
            <a:r>
              <a:rPr lang="en-US" sz="1100" dirty="0">
                <a:solidFill>
                  <a:srgbClr val="3D4D50"/>
                </a:solidFill>
                <a:latin typeface="Segoe UI"/>
                <a:ea typeface="IBM Plex Sans" pitchFamily="34" charset="-122"/>
                <a:cs typeface="Segoe UI"/>
              </a:rPr>
              <a:t>Every release is built, </a:t>
            </a:r>
            <a:r>
              <a:rPr lang="en-US" sz="1100" dirty="0" err="1">
                <a:solidFill>
                  <a:srgbClr val="3D4D50"/>
                </a:solidFill>
                <a:latin typeface="Segoe UI"/>
                <a:ea typeface="IBM Plex Sans" pitchFamily="34" charset="-122"/>
                <a:cs typeface="Segoe UI"/>
              </a:rPr>
              <a:t>Trivy</a:t>
            </a:r>
            <a:r>
              <a:rPr lang="en-US" sz="1100" dirty="0">
                <a:solidFill>
                  <a:srgbClr val="3D4D50"/>
                </a:solidFill>
                <a:latin typeface="Segoe UI"/>
                <a:ea typeface="IBM Plex Sans" pitchFamily="34" charset="-122"/>
                <a:cs typeface="Segoe UI"/>
              </a:rPr>
              <a:t>-scanned and deployed to dev by pipeline, then verified end to end. Once stable, the same image is promoted to higher environments with no rebuild, so what was tested is what ships.</a:t>
            </a:r>
            <a:endParaRPr lang="en-US" sz="1100">
              <a:solidFill>
                <a:srgbClr val="3D4D50"/>
              </a:solidFill>
              <a:latin typeface="Segoe UI"/>
              <a:cs typeface="Segoe UI"/>
            </a:endParaRPr>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ea typeface="IBM Plex Sans" pitchFamily="34" charset="-122"/>
                <a:cs typeface="IBM Plex Sans" pitchFamily="34" charset="-120"/>
              </a:rPr>
              <a:t>8</a:t>
            </a:r>
            <a:endParaRPr lang="en-US" sz="1200">
              <a:latin typeface="IBM Plex Sans"/>
            </a:endParaRPr>
          </a:p>
        </p:txBody>
      </p:sp>
      <p:sp>
        <p:nvSpPr>
          <p:cNvPr id="26" name="Text 21">
            <a:extLst>
              <a:ext uri="{FF2B5EF4-FFF2-40B4-BE49-F238E27FC236}">
                <a16:creationId xmlns:a16="http://schemas.microsoft.com/office/drawing/2014/main" id="{0FDA504A-9E7F-047F-6535-EBC8AF741B8D}"/>
              </a:ext>
            </a:extLst>
          </p:cNvPr>
          <p:cNvSpPr/>
          <p:nvPr/>
        </p:nvSpPr>
        <p:spPr>
          <a:xfrm>
            <a:off x="8139545" y="3517227"/>
            <a:ext cx="3139440" cy="223507"/>
          </a:xfrm>
          <a:prstGeom prst="rect">
            <a:avLst/>
          </a:prstGeom>
          <a:noFill/>
          <a:ln/>
        </p:spPr>
        <p:txBody>
          <a:bodyPr wrap="square" lIns="0" tIns="0" rIns="0" bIns="0" rtlCol="0" anchor="t">
            <a:normAutofit/>
          </a:bodyPr>
          <a:lstStyle/>
          <a:p>
            <a:pPr>
              <a:lnSpc>
                <a:spcPts val="1560"/>
              </a:lnSpc>
            </a:pPr>
            <a:r>
              <a:rPr lang="en-US" sz="1100">
                <a:solidFill>
                  <a:srgbClr val="EEF3EF"/>
                </a:solidFill>
                <a:latin typeface="Segoe UI"/>
                <a:cs typeface="Segoe UI"/>
              </a:rPr>
              <a:t>Next: dashboards, runbooks, and reports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1C7A45"/>
                </a:solidFill>
                <a:latin typeface="IBM Plex Mono" pitchFamily="49" charset="0"/>
                <a:ea typeface="IBM Plex Mono" pitchFamily="49" charset="-122"/>
                <a:cs typeface="IBM Plex Mono" pitchFamily="49" charset="-120"/>
              </a:rPr>
              <a:t>WORKING DEMONSTRATION</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14262A"/>
                </a:solidFill>
                <a:latin typeface="IBM Plex Sans" pitchFamily="34" charset="0"/>
                <a:ea typeface="IBM Plex Sans" pitchFamily="34" charset="-122"/>
                <a:cs typeface="IBM Plex Sans" pitchFamily="34" charset="-120"/>
              </a:rPr>
              <a:t>One change request, from AI proposal to committee decision</a:t>
            </a:r>
            <a:endParaRPr lang="en-US" sz="2800"/>
          </a:p>
        </p:txBody>
      </p:sp>
      <p:sp>
        <p:nvSpPr>
          <p:cNvPr id="4" name="Shape 2"/>
          <p:cNvSpPr/>
          <p:nvPr/>
        </p:nvSpPr>
        <p:spPr>
          <a:xfrm>
            <a:off x="812800" y="1747441"/>
            <a:ext cx="2413000" cy="1504950"/>
          </a:xfrm>
          <a:prstGeom prst="roundRect">
            <a:avLst>
              <a:gd name="adj" fmla="val 3376"/>
            </a:avLst>
          </a:prstGeom>
          <a:solidFill>
            <a:srgbClr val="FFFFFF"/>
          </a:solidFill>
          <a:ln/>
        </p:spPr>
        <p:txBody>
          <a:bodyPr/>
          <a:lstStyle/>
          <a:p>
            <a:endParaRPr lang="en-US"/>
          </a:p>
        </p:txBody>
      </p:sp>
      <p:pic>
        <p:nvPicPr>
          <p:cNvPr id="5" name="Image 0" descr="AI-proposed FFIEC categories screen"/>
          <p:cNvPicPr>
            <a:picLocks noChangeAspect="1"/>
          </p:cNvPicPr>
          <p:nvPr/>
        </p:nvPicPr>
        <p:blipFill>
          <a:blip r:embed="rId3"/>
          <a:srcRect l="-266" r="-266"/>
          <a:stretch/>
        </p:blipFill>
        <p:spPr>
          <a:xfrm>
            <a:off x="819150" y="1753791"/>
            <a:ext cx="2400300" cy="1492250"/>
          </a:xfrm>
          <a:prstGeom prst="roundRect">
            <a:avLst>
              <a:gd name="adj" fmla="val 2979"/>
            </a:avLst>
          </a:prstGeom>
        </p:spPr>
      </p:pic>
      <p:sp>
        <p:nvSpPr>
          <p:cNvPr id="6" name="Shape 3"/>
          <p:cNvSpPr/>
          <p:nvPr/>
        </p:nvSpPr>
        <p:spPr>
          <a:xfrm>
            <a:off x="815975" y="1750616"/>
            <a:ext cx="2406650" cy="1498600"/>
          </a:xfrm>
          <a:prstGeom prst="roundRect">
            <a:avLst>
              <a:gd name="adj" fmla="val 3178"/>
            </a:avLst>
          </a:prstGeom>
          <a:noFill/>
          <a:ln w="6350">
            <a:solidFill>
              <a:srgbClr val="DFE5E1"/>
            </a:solidFill>
            <a:prstDash val="solid"/>
          </a:ln>
        </p:spPr>
        <p:txBody>
          <a:bodyPr/>
          <a:lstStyle/>
          <a:p>
            <a:endParaRPr lang="en-US"/>
          </a:p>
        </p:txBody>
      </p:sp>
      <p:sp>
        <p:nvSpPr>
          <p:cNvPr id="7" name="Text 4"/>
          <p:cNvSpPr/>
          <p:nvPr/>
        </p:nvSpPr>
        <p:spPr>
          <a:xfrm>
            <a:off x="812800" y="330319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1</a:t>
            </a:r>
            <a:r>
              <a:rPr lang="en-US" sz="1200">
                <a:solidFill>
                  <a:srgbClr val="14262A"/>
                </a:solidFill>
                <a:latin typeface="IBM Plex Sans" pitchFamily="34" charset="0"/>
                <a:ea typeface="IBM Plex Sans" pitchFamily="34" charset="-122"/>
                <a:cs typeface="IBM Plex Sans" pitchFamily="34" charset="-120"/>
              </a:rPr>
              <a:t> AI proposes categories</a:t>
            </a:r>
            <a:endParaRPr lang="en-US" sz="1200"/>
          </a:p>
        </p:txBody>
      </p:sp>
      <p:sp>
        <p:nvSpPr>
          <p:cNvPr id="8" name="Shape 5"/>
          <p:cNvSpPr/>
          <p:nvPr/>
        </p:nvSpPr>
        <p:spPr>
          <a:xfrm>
            <a:off x="3225800" y="1747441"/>
            <a:ext cx="2413000" cy="1504950"/>
          </a:xfrm>
          <a:prstGeom prst="roundRect">
            <a:avLst>
              <a:gd name="adj" fmla="val 3376"/>
            </a:avLst>
          </a:prstGeom>
          <a:solidFill>
            <a:srgbClr val="FFFFFF"/>
          </a:solidFill>
          <a:ln/>
        </p:spPr>
        <p:txBody>
          <a:bodyPr/>
          <a:lstStyle/>
          <a:p>
            <a:endParaRPr lang="en-US"/>
          </a:p>
        </p:txBody>
      </p:sp>
      <p:pic>
        <p:nvPicPr>
          <p:cNvPr id="9" name="Image 1" descr="AI-drafted narratives pending review"/>
          <p:cNvPicPr>
            <a:picLocks noChangeAspect="1"/>
          </p:cNvPicPr>
          <p:nvPr/>
        </p:nvPicPr>
        <p:blipFill>
          <a:blip r:embed="rId4"/>
          <a:srcRect l="-266" r="-266"/>
          <a:stretch/>
        </p:blipFill>
        <p:spPr>
          <a:xfrm>
            <a:off x="3232150" y="1753791"/>
            <a:ext cx="2400300" cy="1492250"/>
          </a:xfrm>
          <a:prstGeom prst="roundRect">
            <a:avLst>
              <a:gd name="adj" fmla="val 2979"/>
            </a:avLst>
          </a:prstGeom>
        </p:spPr>
      </p:pic>
      <p:sp>
        <p:nvSpPr>
          <p:cNvPr id="10" name="Shape 6"/>
          <p:cNvSpPr/>
          <p:nvPr/>
        </p:nvSpPr>
        <p:spPr>
          <a:xfrm>
            <a:off x="3228975" y="1750616"/>
            <a:ext cx="2406650" cy="1498600"/>
          </a:xfrm>
          <a:prstGeom prst="roundRect">
            <a:avLst>
              <a:gd name="adj" fmla="val 3178"/>
            </a:avLst>
          </a:prstGeom>
          <a:noFill/>
          <a:ln w="6350">
            <a:solidFill>
              <a:srgbClr val="DFE5E1"/>
            </a:solidFill>
            <a:prstDash val="solid"/>
          </a:ln>
        </p:spPr>
        <p:txBody>
          <a:bodyPr/>
          <a:lstStyle/>
          <a:p>
            <a:endParaRPr lang="en-US"/>
          </a:p>
        </p:txBody>
      </p:sp>
      <p:sp>
        <p:nvSpPr>
          <p:cNvPr id="11" name="Text 7"/>
          <p:cNvSpPr/>
          <p:nvPr/>
        </p:nvSpPr>
        <p:spPr>
          <a:xfrm>
            <a:off x="3225800" y="330319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2</a:t>
            </a:r>
            <a:r>
              <a:rPr lang="en-US" sz="1200">
                <a:solidFill>
                  <a:srgbClr val="14262A"/>
                </a:solidFill>
                <a:latin typeface="IBM Plex Sans" pitchFamily="34" charset="0"/>
                <a:ea typeface="IBM Plex Sans" pitchFamily="34" charset="-122"/>
                <a:cs typeface="IBM Plex Sans" pitchFamily="34" charset="-120"/>
              </a:rPr>
              <a:t> AI drafts the narrative</a:t>
            </a:r>
            <a:endParaRPr lang="en-US" sz="1200"/>
          </a:p>
        </p:txBody>
      </p:sp>
      <p:sp>
        <p:nvSpPr>
          <p:cNvPr id="12" name="Shape 8"/>
          <p:cNvSpPr/>
          <p:nvPr/>
        </p:nvSpPr>
        <p:spPr>
          <a:xfrm>
            <a:off x="812800" y="3516511"/>
            <a:ext cx="2413000" cy="1504950"/>
          </a:xfrm>
          <a:prstGeom prst="roundRect">
            <a:avLst>
              <a:gd name="adj" fmla="val 3376"/>
            </a:avLst>
          </a:prstGeom>
          <a:solidFill>
            <a:srgbClr val="FFFFFF"/>
          </a:solidFill>
          <a:ln/>
        </p:spPr>
        <p:txBody>
          <a:bodyPr/>
          <a:lstStyle/>
          <a:p>
            <a:endParaRPr lang="en-US"/>
          </a:p>
        </p:txBody>
      </p:sp>
      <p:pic>
        <p:nvPicPr>
          <p:cNvPr id="13" name="Image 2" descr="Score override with zero rejected"/>
          <p:cNvPicPr>
            <a:picLocks noChangeAspect="1"/>
          </p:cNvPicPr>
          <p:nvPr/>
        </p:nvPicPr>
        <p:blipFill>
          <a:blip r:embed="rId5"/>
          <a:srcRect l="-266" r="-266"/>
          <a:stretch/>
        </p:blipFill>
        <p:spPr>
          <a:xfrm>
            <a:off x="819150" y="3522861"/>
            <a:ext cx="2400300" cy="1492250"/>
          </a:xfrm>
          <a:prstGeom prst="roundRect">
            <a:avLst>
              <a:gd name="adj" fmla="val 2979"/>
            </a:avLst>
          </a:prstGeom>
        </p:spPr>
      </p:pic>
      <p:sp>
        <p:nvSpPr>
          <p:cNvPr id="14" name="Shape 9"/>
          <p:cNvSpPr/>
          <p:nvPr/>
        </p:nvSpPr>
        <p:spPr>
          <a:xfrm>
            <a:off x="815975" y="3519686"/>
            <a:ext cx="2406650" cy="1498600"/>
          </a:xfrm>
          <a:prstGeom prst="roundRect">
            <a:avLst>
              <a:gd name="adj" fmla="val 3178"/>
            </a:avLst>
          </a:prstGeom>
          <a:noFill/>
          <a:ln w="6350">
            <a:solidFill>
              <a:srgbClr val="DFE5E1"/>
            </a:solidFill>
            <a:prstDash val="solid"/>
          </a:ln>
        </p:spPr>
        <p:txBody>
          <a:bodyPr/>
          <a:lstStyle/>
          <a:p>
            <a:endParaRPr lang="en-US"/>
          </a:p>
        </p:txBody>
      </p:sp>
      <p:sp>
        <p:nvSpPr>
          <p:cNvPr id="15" name="Text 10"/>
          <p:cNvSpPr/>
          <p:nvPr/>
        </p:nvSpPr>
        <p:spPr>
          <a:xfrm>
            <a:off x="812800" y="507226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3</a:t>
            </a:r>
            <a:r>
              <a:rPr lang="en-US" sz="1200">
                <a:solidFill>
                  <a:srgbClr val="14262A"/>
                </a:solidFill>
                <a:latin typeface="IBM Plex Sans" pitchFamily="34" charset="0"/>
                <a:ea typeface="IBM Plex Sans" pitchFamily="34" charset="-122"/>
                <a:cs typeface="IBM Plex Sans" pitchFamily="34" charset="-120"/>
              </a:rPr>
              <a:t> Override needs a reason</a:t>
            </a:r>
            <a:endParaRPr lang="en-US" sz="1200"/>
          </a:p>
        </p:txBody>
      </p:sp>
      <p:sp>
        <p:nvSpPr>
          <p:cNvPr id="16" name="Shape 11"/>
          <p:cNvSpPr/>
          <p:nvPr/>
        </p:nvSpPr>
        <p:spPr>
          <a:xfrm>
            <a:off x="3225800" y="3516511"/>
            <a:ext cx="2413000" cy="1504950"/>
          </a:xfrm>
          <a:prstGeom prst="roundRect">
            <a:avLst>
              <a:gd name="adj" fmla="val 3376"/>
            </a:avLst>
          </a:prstGeom>
          <a:solidFill>
            <a:srgbClr val="FFFFFF"/>
          </a:solidFill>
          <a:ln/>
        </p:spPr>
        <p:txBody>
          <a:bodyPr/>
          <a:lstStyle/>
          <a:p>
            <a:endParaRPr lang="en-US"/>
          </a:p>
        </p:txBody>
      </p:sp>
      <p:pic>
        <p:nvPicPr>
          <p:cNvPr id="17" name="Image 3" descr="Committee decision recorded"/>
          <p:cNvPicPr>
            <a:picLocks noChangeAspect="1"/>
          </p:cNvPicPr>
          <p:nvPr/>
        </p:nvPicPr>
        <p:blipFill>
          <a:blip r:embed="rId6"/>
          <a:srcRect l="-266" r="-266"/>
          <a:stretch/>
        </p:blipFill>
        <p:spPr>
          <a:xfrm>
            <a:off x="3232150" y="3522861"/>
            <a:ext cx="2400300" cy="1492250"/>
          </a:xfrm>
          <a:prstGeom prst="roundRect">
            <a:avLst>
              <a:gd name="adj" fmla="val 2979"/>
            </a:avLst>
          </a:prstGeom>
        </p:spPr>
      </p:pic>
      <p:sp>
        <p:nvSpPr>
          <p:cNvPr id="18" name="Shape 12"/>
          <p:cNvSpPr/>
          <p:nvPr/>
        </p:nvSpPr>
        <p:spPr>
          <a:xfrm>
            <a:off x="3228975" y="3519686"/>
            <a:ext cx="2406650" cy="1498600"/>
          </a:xfrm>
          <a:prstGeom prst="roundRect">
            <a:avLst>
              <a:gd name="adj" fmla="val 3178"/>
            </a:avLst>
          </a:prstGeom>
          <a:noFill/>
          <a:ln w="6350">
            <a:solidFill>
              <a:srgbClr val="DFE5E1"/>
            </a:solidFill>
            <a:prstDash val="solid"/>
          </a:ln>
        </p:spPr>
        <p:txBody>
          <a:bodyPr/>
          <a:lstStyle/>
          <a:p>
            <a:endParaRPr lang="en-US"/>
          </a:p>
        </p:txBody>
      </p:sp>
      <p:sp>
        <p:nvSpPr>
          <p:cNvPr id="19" name="Text 13"/>
          <p:cNvSpPr/>
          <p:nvPr/>
        </p:nvSpPr>
        <p:spPr>
          <a:xfrm>
            <a:off x="3225800" y="5072261"/>
            <a:ext cx="248539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C7A45"/>
                </a:solidFill>
                <a:latin typeface="IBM Plex Sans" pitchFamily="34" charset="0"/>
                <a:ea typeface="IBM Plex Sans" pitchFamily="34" charset="-122"/>
                <a:cs typeface="IBM Plex Sans" pitchFamily="34" charset="-120"/>
              </a:rPr>
              <a:t>4</a:t>
            </a:r>
            <a:r>
              <a:rPr lang="en-US" sz="1200">
                <a:solidFill>
                  <a:srgbClr val="14262A"/>
                </a:solidFill>
                <a:latin typeface="IBM Plex Sans" pitchFamily="34" charset="0"/>
                <a:ea typeface="IBM Plex Sans" pitchFamily="34" charset="-122"/>
                <a:cs typeface="IBM Plex Sans" pitchFamily="34" charset="-120"/>
              </a:rPr>
              <a:t> Decision recorded</a:t>
            </a:r>
            <a:endParaRPr lang="en-US" sz="1200"/>
          </a:p>
        </p:txBody>
      </p:sp>
      <p:sp>
        <p:nvSpPr>
          <p:cNvPr id="20" name="Text 14"/>
          <p:cNvSpPr/>
          <p:nvPr/>
        </p:nvSpPr>
        <p:spPr>
          <a:xfrm>
            <a:off x="5994400" y="1747441"/>
            <a:ext cx="5546344" cy="238720"/>
          </a:xfrm>
          <a:prstGeom prst="rect">
            <a:avLst/>
          </a:prstGeom>
          <a:noFill/>
          <a:ln/>
        </p:spPr>
        <p:txBody>
          <a:bodyPr wrap="square" lIns="0" tIns="0" rIns="0" bIns="0" rtlCol="0" anchor="t">
            <a:normAutofit/>
          </a:bodyPr>
          <a:lstStyle/>
          <a:p>
            <a:pPr marL="0" indent="0" algn="l">
              <a:lnSpc>
                <a:spcPts val="1680"/>
              </a:lnSpc>
              <a:buNone/>
            </a:pPr>
            <a:r>
              <a:rPr lang="en-US" sz="1400" b="1">
                <a:solidFill>
                  <a:srgbClr val="14262A"/>
                </a:solidFill>
                <a:latin typeface="IBM Plex Sans"/>
                <a:ea typeface="IBM Plex Sans" pitchFamily="34" charset="-122"/>
                <a:cs typeface="Segoe UI"/>
              </a:rPr>
              <a:t>Demo flow</a:t>
            </a:r>
            <a:endParaRPr lang="en-US" sz="1400">
              <a:latin typeface="IBM Plex Sans"/>
              <a:cs typeface="Segoe UI"/>
            </a:endParaRPr>
          </a:p>
        </p:txBody>
      </p:sp>
      <p:sp>
        <p:nvSpPr>
          <p:cNvPr id="21" name="Text 15"/>
          <p:cNvSpPr/>
          <p:nvPr/>
        </p:nvSpPr>
        <p:spPr>
          <a:xfrm>
            <a:off x="6093318" y="2049661"/>
            <a:ext cx="5709969" cy="2904162"/>
          </a:xfrm>
          <a:prstGeom prst="rect">
            <a:avLst/>
          </a:prstGeom>
          <a:noFill/>
          <a:ln/>
        </p:spPr>
        <p:txBody>
          <a:bodyPr wrap="square" lIns="0" tIns="0" rIns="0" bIns="0" rtlCol="0" anchor="t">
            <a:normAutofit/>
          </a:bodyPr>
          <a:lstStyle/>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Sign in: each role sees only its screens</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Product Owner submits a change with documents</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AI maps FFIEC categories; analyst adds or overrides</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Policy search: each result relied on or not relevant</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AI extracts fields from PDF, Word or Excel</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AI drafts narrative; analyst edits with a reason</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Deterministic score; analyst finalizes</a:t>
            </a:r>
            <a:endParaRPr lang="en-US" sz="1400">
              <a:latin typeface="Segoe UI"/>
              <a:cs typeface="Segoe UI"/>
            </a:endParaRPr>
          </a:p>
          <a:p>
            <a:pPr marL="168910" indent="-168910" algn="l">
              <a:lnSpc>
                <a:spcPts val="1620"/>
              </a:lnSpc>
              <a:buSzPct val="100000"/>
              <a:buFontTx/>
              <a:buAutoNum type="arabicPeriod"/>
            </a:pPr>
            <a:r>
              <a:rPr lang="en-US" sz="1400">
                <a:solidFill>
                  <a:srgbClr val="14262A"/>
                </a:solidFill>
                <a:latin typeface="Segoe UI"/>
                <a:ea typeface="IBM Plex Sans" pitchFamily="34" charset="-122"/>
                <a:cs typeface="Segoe UI"/>
              </a:rPr>
              <a:t>Committee votes; request locks; audit trail complete</a:t>
            </a:r>
            <a:endParaRPr lang="en-US" sz="1400">
              <a:latin typeface="Segoe UI"/>
              <a:cs typeface="Segoe UI"/>
            </a:endParaRPr>
          </a:p>
        </p:txBody>
      </p:sp>
      <p:sp>
        <p:nvSpPr>
          <p:cNvPr id="22"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B6E"/>
                </a:solidFill>
                <a:latin typeface="IBM Plex Sans"/>
                <a:ea typeface="IBM Plex Sans" pitchFamily="34" charset="-122"/>
                <a:cs typeface="IBM Plex Sans" pitchFamily="34" charset="-120"/>
              </a:rPr>
              <a:t>9</a:t>
            </a:r>
            <a:endParaRPr lang="en-US" sz="1200">
              <a:latin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62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a:solidFill>
                  <a:srgbClr val="4FD67A"/>
                </a:solidFill>
                <a:latin typeface="IBM Plex Mono" pitchFamily="49" charset="0"/>
                <a:ea typeface="IBM Plex Mono" pitchFamily="49" charset="-122"/>
                <a:cs typeface="IBM Plex Mono" pitchFamily="49" charset="-120"/>
              </a:rPr>
              <a:t>ENGINEERING JUDGEMENT AND LESSONS</a:t>
            </a:r>
            <a:endParaRPr lang="en-US" sz="120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a:solidFill>
                  <a:srgbClr val="EEF3EF"/>
                </a:solidFill>
                <a:latin typeface="IBM Plex Sans" pitchFamily="34" charset="0"/>
                <a:ea typeface="IBM Plex Sans" pitchFamily="34" charset="-122"/>
                <a:cs typeface="IBM Plex Sans" pitchFamily="34" charset="-120"/>
              </a:rPr>
              <a:t>What we would keep, and what we would do differently</a:t>
            </a:r>
            <a:endParaRPr lang="en-US" sz="2800"/>
          </a:p>
        </p:txBody>
      </p:sp>
      <p:sp>
        <p:nvSpPr>
          <p:cNvPr id="4" name="Text 2"/>
          <p:cNvSpPr/>
          <p:nvPr/>
        </p:nvSpPr>
        <p:spPr>
          <a:xfrm>
            <a:off x="812800" y="1772841"/>
            <a:ext cx="52324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4FD67A"/>
                </a:solidFill>
                <a:latin typeface="IBM Plex Sans" pitchFamily="34" charset="0"/>
                <a:ea typeface="IBM Plex Sans" pitchFamily="34" charset="-122"/>
                <a:cs typeface="IBM Plex Sans" pitchFamily="34" charset="-120"/>
              </a:rPr>
              <a:t>✓ Keep</a:t>
            </a:r>
            <a:endParaRPr lang="en-US" sz="1500"/>
          </a:p>
        </p:txBody>
      </p:sp>
      <p:sp>
        <p:nvSpPr>
          <p:cNvPr id="5" name="Text 3"/>
          <p:cNvSpPr/>
          <p:nvPr/>
        </p:nvSpPr>
        <p:spPr>
          <a:xfrm>
            <a:off x="812800" y="2103041"/>
            <a:ext cx="52324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Deterministic rules for scoring, search and decisions; AI only for language tasks</a:t>
            </a:r>
            <a:endParaRPr lang="en-US" sz="1300"/>
          </a:p>
        </p:txBody>
      </p:sp>
      <p:sp>
        <p:nvSpPr>
          <p:cNvPr id="6" name="Text 4"/>
          <p:cNvSpPr/>
          <p:nvPr/>
        </p:nvSpPr>
        <p:spPr>
          <a:xfrm>
            <a:off x="812800" y="2650331"/>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A human gate per AI output, enforced in the database</a:t>
            </a:r>
            <a:endParaRPr lang="en-US" sz="1300"/>
          </a:p>
        </p:txBody>
      </p:sp>
      <p:sp>
        <p:nvSpPr>
          <p:cNvPr id="7" name="Text 5"/>
          <p:cNvSpPr/>
          <p:nvPr/>
        </p:nvSpPr>
        <p:spPr>
          <a:xfrm>
            <a:off x="812800" y="2974777"/>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One context file (CLAUDE.md) so every AI session starts on spec</a:t>
            </a:r>
            <a:endParaRPr lang="en-US" sz="1300"/>
          </a:p>
        </p:txBody>
      </p:sp>
      <p:sp>
        <p:nvSpPr>
          <p:cNvPr id="8" name="Text 6"/>
          <p:cNvSpPr/>
          <p:nvPr/>
        </p:nvSpPr>
        <p:spPr>
          <a:xfrm>
            <a:off x="812800" y="3299222"/>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Evals that say plainly what they do not verify</a:t>
            </a:r>
            <a:endParaRPr lang="en-US" sz="1300"/>
          </a:p>
        </p:txBody>
      </p:sp>
      <p:sp>
        <p:nvSpPr>
          <p:cNvPr id="9" name="Text 7"/>
          <p:cNvSpPr/>
          <p:nvPr/>
        </p:nvSpPr>
        <p:spPr>
          <a:xfrm>
            <a:off x="6299200" y="1772841"/>
            <a:ext cx="52324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F0A64A"/>
                </a:solidFill>
                <a:latin typeface="IBM Plex Sans" pitchFamily="34" charset="0"/>
                <a:ea typeface="IBM Plex Sans" pitchFamily="34" charset="-122"/>
                <a:cs typeface="IBM Plex Sans" pitchFamily="34" charset="-120"/>
              </a:rPr>
              <a:t>→ Do differently</a:t>
            </a:r>
            <a:endParaRPr lang="en-US" sz="1500"/>
          </a:p>
        </p:txBody>
      </p:sp>
      <p:sp>
        <p:nvSpPr>
          <p:cNvPr id="10" name="Text 8"/>
          <p:cNvSpPr/>
          <p:nvPr/>
        </p:nvSpPr>
        <p:spPr>
          <a:xfrm>
            <a:off x="6299200" y="2103041"/>
            <a:ext cx="52324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Log every generation prompt from day one; our epic prompt was not kept</a:t>
            </a:r>
            <a:endParaRPr lang="en-US" sz="1300"/>
          </a:p>
        </p:txBody>
      </p:sp>
      <p:sp>
        <p:nvSpPr>
          <p:cNvPr id="11" name="Text 9"/>
          <p:cNvSpPr/>
          <p:nvPr/>
        </p:nvSpPr>
        <p:spPr>
          <a:xfrm>
            <a:off x="6299200" y="2650331"/>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Merge feature branches early so the main line shows all the work</a:t>
            </a:r>
            <a:endParaRPr lang="en-US" sz="1300"/>
          </a:p>
        </p:txBody>
      </p:sp>
      <p:sp>
        <p:nvSpPr>
          <p:cNvPr id="12" name="Text 10"/>
          <p:cNvSpPr/>
          <p:nvPr/>
        </p:nvSpPr>
        <p:spPr>
          <a:xfrm>
            <a:off x="6299200" y="2974777"/>
            <a:ext cx="523240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Measure tokens from the first AI call, not at the end</a:t>
            </a:r>
            <a:endParaRPr lang="en-US" sz="1300"/>
          </a:p>
        </p:txBody>
      </p:sp>
      <p:sp>
        <p:nvSpPr>
          <p:cNvPr id="13" name="Text 11"/>
          <p:cNvSpPr/>
          <p:nvPr/>
        </p:nvSpPr>
        <p:spPr>
          <a:xfrm>
            <a:off x="6299200" y="3299222"/>
            <a:ext cx="5232400" cy="471091"/>
          </a:xfrm>
          <a:prstGeom prst="rect">
            <a:avLst/>
          </a:prstGeom>
          <a:noFill/>
          <a:ln/>
        </p:spPr>
        <p:txBody>
          <a:bodyPr wrap="square" lIns="0" tIns="0" rIns="0" bIns="0" rtlCol="0" anchor="t">
            <a:normAutofit/>
          </a:bodyPr>
          <a:lstStyle/>
          <a:p>
            <a:pPr marL="0" indent="0" algn="l">
              <a:lnSpc>
                <a:spcPts val="1755"/>
              </a:lnSpc>
              <a:buNone/>
            </a:pPr>
            <a:r>
              <a:rPr lang="en-US" sz="1300">
                <a:solidFill>
                  <a:srgbClr val="EEF3EF"/>
                </a:solidFill>
                <a:latin typeface="IBM Plex Sans" pitchFamily="34" charset="0"/>
                <a:ea typeface="IBM Plex Sans" pitchFamily="34" charset="-122"/>
                <a:cs typeface="IBM Plex Sans" pitchFamily="34" charset="-120"/>
              </a:rPr>
              <a:t>Close open questions sooner: PO visibility, override sign-off, config approval</a:t>
            </a:r>
            <a:endParaRPr lang="en-US" sz="1300"/>
          </a:p>
        </p:txBody>
      </p:sp>
      <p:sp>
        <p:nvSpPr>
          <p:cNvPr id="14" name="Shape 12"/>
          <p:cNvSpPr/>
          <p:nvPr/>
        </p:nvSpPr>
        <p:spPr>
          <a:xfrm>
            <a:off x="812800" y="4027488"/>
            <a:ext cx="10566400" cy="0"/>
          </a:xfrm>
          <a:prstGeom prst="line">
            <a:avLst/>
          </a:prstGeom>
          <a:noFill/>
          <a:ln w="6350">
            <a:solidFill>
              <a:srgbClr val="2F4A4D"/>
            </a:solidFill>
            <a:prstDash val="solid"/>
          </a:ln>
        </p:spPr>
        <p:txBody>
          <a:bodyPr/>
          <a:lstStyle/>
          <a:p>
            <a:endParaRPr lang="en-US"/>
          </a:p>
        </p:txBody>
      </p:sp>
      <p:sp>
        <p:nvSpPr>
          <p:cNvPr id="15" name="Text 13"/>
          <p:cNvSpPr/>
          <p:nvPr/>
        </p:nvSpPr>
        <p:spPr>
          <a:xfrm>
            <a:off x="812800" y="423174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a:solidFill>
                  <a:srgbClr val="EEF3EF"/>
                </a:solidFill>
                <a:latin typeface="IBM Plex Sans" pitchFamily="34" charset="0"/>
                <a:ea typeface="IBM Plex Sans" pitchFamily="34" charset="-122"/>
                <a:cs typeface="IBM Plex Sans" pitchFamily="34" charset="-120"/>
              </a:rPr>
              <a:t>The system prepares. </a:t>
            </a:r>
            <a:r>
              <a:rPr lang="en-US" sz="3000" b="1">
                <a:solidFill>
                  <a:srgbClr val="4FD67A"/>
                </a:solidFill>
                <a:latin typeface="IBM Plex Sans" pitchFamily="34" charset="0"/>
                <a:ea typeface="IBM Plex Sans" pitchFamily="34" charset="-122"/>
                <a:cs typeface="IBM Plex Sans" pitchFamily="34" charset="-120"/>
              </a:rPr>
              <a:t>Humans decide.</a:t>
            </a:r>
            <a:endParaRPr lang="en-US" sz="3000"/>
          </a:p>
        </p:txBody>
      </p:sp>
      <p:sp>
        <p:nvSpPr>
          <p:cNvPr id="16" name="Text 14"/>
          <p:cNvSpPr/>
          <p:nvPr/>
        </p:nvSpPr>
        <p:spPr>
          <a:xfrm>
            <a:off x="812800" y="472704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9FB4B0"/>
                </a:solidFill>
                <a:latin typeface="IBM Plex Mono" pitchFamily="49" charset="0"/>
                <a:ea typeface="IBM Plex Mono" pitchFamily="49" charset="-122"/>
                <a:cs typeface="IBM Plex Mono" pitchFamily="49" charset="-120"/>
              </a:rPr>
              <a:t>github.com/surajkoditala/humaid-risk-governance</a:t>
            </a:r>
            <a:endParaRPr lang="en-US" sz="120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9FB4B0"/>
                </a:solidFill>
                <a:latin typeface="IBM Plex Sans" pitchFamily="34" charset="0"/>
                <a:ea typeface="IBM Plex Sans" pitchFamily="34" charset="-122"/>
                <a:cs typeface="IBM Plex Sans" pitchFamily="34" charset="-120"/>
              </a:rPr>
              <a:t>10 · Thank you. Questions?</a:t>
            </a:r>
            <a:endParaRPr lang="en-US" sz="1200"/>
          </a:p>
        </p:txBody>
      </p:sp>
    </p:spTree>
  </p:cSld>
  <p:clrMapOvr>
    <a:masterClrMapping/>
  </p:clrMapOvr>
</p:sld>
</file>

<file path=ppt/theme/theme1.xml><?xml version="1.0" encoding="utf-8"?>
<a:theme xmlns:a="http://schemas.openxmlformats.org/drawingml/2006/main" name="Risk Assessment Workbench — Genius Hacks Q3 2026">
  <a:themeElements>
    <a:clrScheme name="Risk Assessment Workbench — Genius Hacks Q3 2026">
      <a:dk1>
        <a:srgbClr val="14262A"/>
      </a:dk1>
      <a:lt1>
        <a:srgbClr val="F5F7F4"/>
      </a:lt1>
      <a:dk2>
        <a:srgbClr val="4C5A5D"/>
      </a:dk2>
      <a:lt2>
        <a:srgbClr val="DFE2E0"/>
      </a:lt2>
      <a:accent1>
        <a:srgbClr val="1C7A45"/>
      </a:accent1>
      <a:accent2>
        <a:srgbClr val="4FD67A"/>
      </a:accent2>
      <a:accent3>
        <a:srgbClr val="14532D"/>
      </a:accent3>
      <a:accent4>
        <a:srgbClr val="7A3D06"/>
      </a:accent4>
      <a:accent5>
        <a:srgbClr val="F0A64A"/>
      </a:accent5>
      <a:accent6>
        <a:srgbClr val="5A6B6E"/>
      </a:accent6>
      <a:hlink>
        <a:srgbClr val="0563C1"/>
      </a:hlink>
      <a:folHlink>
        <a:srgbClr val="954F72"/>
      </a:folHlink>
    </a:clrScheme>
    <a:fontScheme name="Risk Assessment Workbench — Genius Hacks Q3 2026">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Risk Assessment Workbench — Genius Hacks Q3 2026</vt:lpstr>
      <vt:lpstr>Risk Assessment Workbench</vt:lpstr>
      <vt:lpstr>Risk reviews are slow, inconsistent and hard to audit</vt:lpstr>
      <vt:lpstr>One pattern in every SDLC stage: AI proposes, the team decides</vt:lpstr>
      <vt:lpstr>From a vague brief to a citable framework and 20 epics</vt:lpstr>
      <vt:lpstr>Only three workflow steps call a model; the rest is deterministic</vt:lpstr>
      <vt:lpstr>Claude Code drafts, the harness checks, a person decides</vt:lpstr>
      <vt:lpstr>We tested the AI and the whole app, found failures, and fixed them</vt:lpstr>
      <vt:lpstr>Deployed as code, reviewed by AI, watched by an agent</vt:lpstr>
      <vt:lpstr>One change request, from AI proposal to committee decision</vt:lpstr>
      <vt:lpstr>What we would keep, and what we would do differently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Assessment Workbench — Genius Hacks Q3 2026</dc:title>
  <dc:subject/>
  <dc:creator/>
  <cp:revision>258</cp:revision>
  <dcterms:created xsi:type="dcterms:W3CDTF">2026-10-21T13:37:21Z</dcterms:created>
  <dcterms:modified xsi:type="dcterms:W3CDTF">2026-10-21T21:22:46Z</dcterms:modified>
</cp:coreProperties>
</file>